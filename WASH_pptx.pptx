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4" r:id="rId7"/>
    <p:sldId id="262" r:id="rId8"/>
    <p:sldId id="267" r:id="rId9"/>
    <p:sldId id="263" r:id="rId10"/>
    <p:sldId id="265" r:id="rId11"/>
    <p:sldId id="268"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56" d="100"/>
          <a:sy n="56" d="100"/>
        </p:scale>
        <p:origin x="44"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3108960"/>
            <a:ext cx="12191695" cy="54864"/>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2011680"/>
            <a:ext cx="10698480" cy="1097280"/>
          </a:xfrm>
          <a:prstGeom prst="rect">
            <a:avLst/>
          </a:prstGeom>
          <a:noFill/>
        </p:spPr>
        <p:txBody>
          <a:bodyPr wrap="square" lIns="45720" tIns="18288" rIns="45720" bIns="18288">
            <a:spAutoFit/>
          </a:bodyPr>
          <a:lstStyle/>
          <a:p>
            <a:r>
              <a:rPr sz="3400" b="1">
                <a:solidFill>
                  <a:srgbClr val="F8FCFC"/>
                </a:solidFill>
                <a:latin typeface="Arial"/>
              </a:rPr>
              <a:t>WASH Inequality in African Schools</a:t>
            </a:r>
          </a:p>
        </p:txBody>
      </p:sp>
      <p:sp>
        <p:nvSpPr>
          <p:cNvPr id="5" name="TextBox 4"/>
          <p:cNvSpPr txBox="1"/>
          <p:nvPr/>
        </p:nvSpPr>
        <p:spPr>
          <a:xfrm>
            <a:off x="731520" y="3291840"/>
            <a:ext cx="10698480" cy="548640"/>
          </a:xfrm>
          <a:prstGeom prst="rect">
            <a:avLst/>
          </a:prstGeom>
          <a:noFill/>
        </p:spPr>
        <p:txBody>
          <a:bodyPr wrap="square" lIns="45720" tIns="18288" rIns="45720" bIns="18288">
            <a:spAutoFit/>
          </a:bodyPr>
          <a:lstStyle/>
          <a:p>
            <a:r>
              <a:rPr sz="1500" b="0">
                <a:solidFill>
                  <a:srgbClr val="CDEEEC"/>
                </a:solidFill>
                <a:latin typeface="Arial"/>
              </a:rPr>
              <a:t>Compiled: Crisis Zones, Whys, Trends &amp; 2030 SDG 6 Outlook</a:t>
            </a:r>
          </a:p>
          <a:p>
            <a:r>
              <a:rPr sz="1500" b="0">
                <a:solidFill>
                  <a:srgbClr val="CDEEEC"/>
                </a:solidFill>
                <a:latin typeface="Arial"/>
              </a:rPr>
              <a:t>Data: WHO/UNICEF JMP 2024  •  51 African countries  •  1,213 observations</a:t>
            </a:r>
          </a:p>
        </p:txBody>
      </p:sp>
      <p:sp>
        <p:nvSpPr>
          <p:cNvPr id="6" name="TextBox 5"/>
          <p:cNvSpPr txBox="1"/>
          <p:nvPr/>
        </p:nvSpPr>
        <p:spPr>
          <a:xfrm>
            <a:off x="731520" y="5852160"/>
            <a:ext cx="10698480" cy="365760"/>
          </a:xfrm>
          <a:prstGeom prst="rect">
            <a:avLst/>
          </a:prstGeom>
          <a:noFill/>
        </p:spPr>
        <p:txBody>
          <a:bodyPr wrap="square" lIns="45720" tIns="18288" rIns="45720" bIns="18288">
            <a:spAutoFit/>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74320"/>
            <a:ext cx="11430000" cy="640080"/>
          </a:xfrm>
          <a:prstGeom prst="rect">
            <a:avLst/>
          </a:prstGeom>
          <a:noFill/>
        </p:spPr>
        <p:txBody>
          <a:bodyPr wrap="square" lIns="45720" tIns="18288" rIns="45720" bIns="18288">
            <a:spAutoFit/>
          </a:bodyPr>
          <a:lstStyle/>
          <a:p>
            <a:r>
              <a:rPr sz="2800" b="1">
                <a:solidFill>
                  <a:srgbClr val="1F2B34"/>
                </a:solidFill>
                <a:latin typeface="Arial"/>
              </a:rPr>
              <a:t>Problem Statement</a:t>
            </a:r>
          </a:p>
        </p:txBody>
      </p:sp>
      <p:sp>
        <p:nvSpPr>
          <p:cNvPr id="5" name="Oval 4"/>
          <p:cNvSpPr/>
          <p:nvPr/>
        </p:nvSpPr>
        <p:spPr>
          <a:xfrm>
            <a:off x="502920" y="411480"/>
            <a:ext cx="164592" cy="164592"/>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63040"/>
            <a:ext cx="10972800" cy="4572000"/>
          </a:xfrm>
          <a:prstGeom prst="rect">
            <a:avLst/>
          </a:prstGeom>
          <a:noFill/>
        </p:spPr>
        <p:txBody>
          <a:bodyPr wrap="square" lIns="45720" tIns="18288" rIns="45720" bIns="18288">
            <a:spAutoFit/>
          </a:bodyPr>
          <a:lstStyle/>
          <a:p>
            <a:r>
              <a:rPr sz="1600">
                <a:solidFill>
                  <a:srgbClr val="1F2B34"/>
                </a:solidFill>
                <a:latin typeface="Arial"/>
              </a:rPr>
              <a:t>Access to safe water, sanitation, and hygiene (WASH) in schools is a basic right and a foundation for learning, health, and gender equity. Yet across Africa, millions of school-aged children still attend schools without basic water, toilets, or handwashing facilities.</a:t>
            </a:r>
          </a:p>
          <a:p>
            <a:endParaRPr sz="1600">
              <a:solidFill>
                <a:srgbClr val="1F2B34"/>
              </a:solidFill>
              <a:latin typeface="Arial"/>
            </a:endParaRPr>
          </a:p>
          <a:p>
            <a:r>
              <a:rPr sz="1600">
                <a:solidFill>
                  <a:srgbClr val="1F2B34"/>
                </a:solidFill>
                <a:latin typeface="Arial"/>
              </a:rPr>
              <a:t>Despite progress under SDG 6, the gap between promise and reality remains wide: progress is uneven across countries and sub-regions, and rural and crisis-affected schools are often left behind. Without clear evidence of where the gaps are, how fast they are closing, and which countries are on track for 2030, resources risk being misallocated.</a:t>
            </a:r>
          </a:p>
          <a:p>
            <a:endParaRPr sz="1600">
              <a:solidFill>
                <a:srgbClr val="1F2B34"/>
              </a:solidFill>
              <a:latin typeface="Arial"/>
            </a:endParaRPr>
          </a:p>
          <a:p>
            <a:r>
              <a:rPr sz="1600">
                <a:solidFill>
                  <a:srgbClr val="1F2B34"/>
                </a:solidFill>
                <a:latin typeface="Arial"/>
              </a:rPr>
              <a:t>This compiled presentation uses Python-based analysis of WHO/UNICEF JMP data (2000–2023) to identify crisis zones, measure progress, explain why gaps persist, and inform targeted WASH infrastructure policy.</a:t>
            </a:r>
          </a:p>
        </p:txBody>
      </p:sp>
      <p:sp>
        <p:nvSpPr>
          <p:cNvPr id="7" name="TextBox 6"/>
          <p:cNvSpPr txBox="1"/>
          <p:nvPr/>
        </p:nvSpPr>
        <p:spPr>
          <a:xfrm>
            <a:off x="457200" y="6537960"/>
            <a:ext cx="11247120" cy="274320"/>
          </a:xfrm>
          <a:prstGeom prst="rect">
            <a:avLst/>
          </a:prstGeom>
          <a:noFill/>
        </p:spPr>
        <p:txBody>
          <a:bodyPr wrap="square" lIns="45720" tIns="18288" rIns="45720" bIns="18288">
            <a:spAutoFit/>
          </a:bodyPr>
          <a:lstStyle/>
          <a:p>
            <a:r>
              <a:rPr sz="1400">
                <a:solidFill>
                  <a:srgbClr val="4C5660"/>
                </a:solidFill>
                <a:latin typeface="Arial"/>
              </a:rPr>
              <a:t>Source: WHO/UNICEF Joint Monitoring Programme (JMP), 2024.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74320"/>
            <a:ext cx="11430000" cy="640080"/>
          </a:xfrm>
          <a:prstGeom prst="rect">
            <a:avLst/>
          </a:prstGeom>
          <a:noFill/>
        </p:spPr>
        <p:txBody>
          <a:bodyPr wrap="square" lIns="45720" tIns="18288" rIns="45720" bIns="18288">
            <a:spAutoFit/>
          </a:bodyPr>
          <a:lstStyle/>
          <a:p>
            <a:r>
              <a:rPr sz="2800" b="1">
                <a:solidFill>
                  <a:srgbClr val="1F2B34"/>
                </a:solidFill>
                <a:latin typeface="Arial"/>
              </a:rPr>
              <a:t>Target Audience</a:t>
            </a:r>
          </a:p>
        </p:txBody>
      </p:sp>
      <p:sp>
        <p:nvSpPr>
          <p:cNvPr id="5" name="Oval 4"/>
          <p:cNvSpPr/>
          <p:nvPr/>
        </p:nvSpPr>
        <p:spPr>
          <a:xfrm>
            <a:off x="502920" y="411480"/>
            <a:ext cx="164592" cy="164592"/>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63040"/>
            <a:ext cx="10972800" cy="3785652"/>
          </a:xfrm>
          <a:prstGeom prst="rect">
            <a:avLst/>
          </a:prstGeom>
          <a:noFill/>
        </p:spPr>
        <p:txBody>
          <a:bodyPr wrap="square">
            <a:spAutoFit/>
          </a:bodyPr>
          <a:lstStyle/>
          <a:p>
            <a:r>
              <a:rPr sz="2400" dirty="0">
                <a:solidFill>
                  <a:srgbClr val="1F2B34"/>
                </a:solidFill>
                <a:latin typeface="Arial"/>
              </a:rPr>
              <a:t>•  Ministries of Education &amp; Health — plan school infrastructure investment and priorities crisis countries.</a:t>
            </a:r>
          </a:p>
          <a:p>
            <a:r>
              <a:rPr sz="2400" dirty="0">
                <a:solidFill>
                  <a:srgbClr val="1F2B34"/>
                </a:solidFill>
                <a:latin typeface="Arial"/>
              </a:rPr>
              <a:t>•  UN agencies (UNICEF, WHO, UNESCO) — track SDG 6 progress and target programs to lagging regions.</a:t>
            </a:r>
          </a:p>
          <a:p>
            <a:r>
              <a:rPr sz="2400" dirty="0">
                <a:solidFill>
                  <a:srgbClr val="1F2B34"/>
                </a:solidFill>
                <a:latin typeface="Arial"/>
              </a:rPr>
              <a:t>•  NGOs &amp; development partners — identify where to deploy WASH interventions for maximum impact.</a:t>
            </a:r>
          </a:p>
          <a:p>
            <a:r>
              <a:rPr sz="2400" dirty="0">
                <a:solidFill>
                  <a:srgbClr val="1F2B34"/>
                </a:solidFill>
                <a:latin typeface="Arial"/>
              </a:rPr>
              <a:t>•  Donors — priorities investments in countries and regions at highest risk of missing 2030 targets.</a:t>
            </a:r>
          </a:p>
          <a:p>
            <a:r>
              <a:rPr sz="2400" dirty="0">
                <a:solidFill>
                  <a:srgbClr val="1F2B34"/>
                </a:solidFill>
                <a:latin typeface="Arial"/>
              </a:rPr>
              <a:t>•  Researchers &amp; policy analysts — use reproducible evidence to study WASH inequality across Africa.</a:t>
            </a:r>
          </a:p>
        </p:txBody>
      </p:sp>
      <p:sp>
        <p:nvSpPr>
          <p:cNvPr id="7" name="TextBox 6"/>
          <p:cNvSpPr txBox="1"/>
          <p:nvPr/>
        </p:nvSpPr>
        <p:spPr>
          <a:xfrm>
            <a:off x="457200" y="6537960"/>
            <a:ext cx="11247120" cy="274320"/>
          </a:xfrm>
          <a:prstGeom prst="rect">
            <a:avLst/>
          </a:prstGeom>
          <a:noFill/>
        </p:spPr>
        <p:txBody>
          <a:bodyPr wrap="square" lIns="45720" tIns="18288" rIns="45720" bIns="18288">
            <a:spAutoFit/>
          </a:bodyPr>
          <a:lstStyle/>
          <a:p>
            <a:r>
              <a:rPr sz="1400">
                <a:solidFill>
                  <a:srgbClr val="4C5660"/>
                </a:solidFill>
                <a:latin typeface="Arial"/>
              </a:rPr>
              <a:t>Source: WHO/UNICEF JMP, 2024; audience refined from both project presentations.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74320"/>
            <a:ext cx="11430000" cy="640080"/>
          </a:xfrm>
          <a:prstGeom prst="rect">
            <a:avLst/>
          </a:prstGeom>
          <a:noFill/>
        </p:spPr>
        <p:txBody>
          <a:bodyPr wrap="square" lIns="45720" tIns="18288" rIns="45720" bIns="18288">
            <a:spAutoFit/>
          </a:bodyPr>
          <a:lstStyle/>
          <a:p>
            <a:pPr algn="l"/>
            <a:r>
              <a:rPr sz="2600" b="1">
                <a:solidFill>
                  <a:srgbClr val="1F2B34"/>
                </a:solidFill>
                <a:latin typeface="Arial"/>
              </a:rPr>
              <a:t>Data Structure &amp; Source</a:t>
            </a:r>
          </a:p>
        </p:txBody>
      </p:sp>
      <p:sp>
        <p:nvSpPr>
          <p:cNvPr id="5" name="Oval 4"/>
          <p:cNvSpPr/>
          <p:nvPr/>
        </p:nvSpPr>
        <p:spPr>
          <a:xfrm>
            <a:off x="502920" y="411480"/>
            <a:ext cx="164592" cy="164592"/>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417320"/>
            <a:ext cx="5486400" cy="365760"/>
          </a:xfrm>
          <a:prstGeom prst="rect">
            <a:avLst/>
          </a:prstGeom>
          <a:noFill/>
        </p:spPr>
        <p:txBody>
          <a:bodyPr wrap="square" lIns="45720" tIns="18288" rIns="45720" bIns="18288">
            <a:spAutoFit/>
          </a:bodyPr>
          <a:lstStyle/>
          <a:p>
            <a:pPr algn="l"/>
            <a:r>
              <a:rPr sz="1600" b="1">
                <a:solidFill>
                  <a:srgbClr val="1E2761"/>
                </a:solidFill>
                <a:latin typeface="Arial"/>
              </a:rPr>
              <a:t>Source</a:t>
            </a:r>
          </a:p>
        </p:txBody>
      </p:sp>
      <p:sp>
        <p:nvSpPr>
          <p:cNvPr id="7" name="TextBox 6"/>
          <p:cNvSpPr txBox="1"/>
          <p:nvPr/>
        </p:nvSpPr>
        <p:spPr>
          <a:xfrm>
            <a:off x="640080" y="1783080"/>
            <a:ext cx="5486400" cy="2286000"/>
          </a:xfrm>
          <a:prstGeom prst="rect">
            <a:avLst/>
          </a:prstGeom>
          <a:noFill/>
        </p:spPr>
        <p:txBody>
          <a:bodyPr wrap="square" lIns="45720" tIns="18288" rIns="45720" bIns="18288">
            <a:spAutoFit/>
          </a:bodyPr>
          <a:lstStyle/>
          <a:p>
            <a:r>
              <a:rPr sz="1400">
                <a:solidFill>
                  <a:srgbClr val="4C5660"/>
                </a:solidFill>
                <a:latin typeface="Arial"/>
              </a:rPr>
              <a:t>WHO/UNICEF Joint Monitoring Programme (JMP) 2024 release — country-level WASH-in-schools data across Africa from 2000–2023.</a:t>
            </a:r>
          </a:p>
        </p:txBody>
      </p:sp>
      <p:sp>
        <p:nvSpPr>
          <p:cNvPr id="8" name="TextBox 7"/>
          <p:cNvSpPr txBox="1"/>
          <p:nvPr/>
        </p:nvSpPr>
        <p:spPr>
          <a:xfrm>
            <a:off x="6400800" y="1417320"/>
            <a:ext cx="5486400" cy="365760"/>
          </a:xfrm>
          <a:prstGeom prst="rect">
            <a:avLst/>
          </a:prstGeom>
          <a:noFill/>
        </p:spPr>
        <p:txBody>
          <a:bodyPr wrap="square" lIns="45720" tIns="18288" rIns="45720" bIns="18288">
            <a:spAutoFit/>
          </a:bodyPr>
          <a:lstStyle/>
          <a:p>
            <a:pPr algn="l"/>
            <a:r>
              <a:rPr sz="1600" b="1">
                <a:solidFill>
                  <a:srgbClr val="4FC1B8"/>
                </a:solidFill>
                <a:latin typeface="Arial"/>
              </a:rPr>
              <a:t>Structure</a:t>
            </a:r>
          </a:p>
        </p:txBody>
      </p:sp>
      <p:sp>
        <p:nvSpPr>
          <p:cNvPr id="9" name="TextBox 8"/>
          <p:cNvSpPr txBox="1"/>
          <p:nvPr/>
        </p:nvSpPr>
        <p:spPr>
          <a:xfrm>
            <a:off x="6400800" y="1783080"/>
            <a:ext cx="5486400" cy="4572000"/>
          </a:xfrm>
          <a:prstGeom prst="rect">
            <a:avLst/>
          </a:prstGeom>
          <a:noFill/>
        </p:spPr>
        <p:txBody>
          <a:bodyPr wrap="square">
            <a:spAutoFit/>
          </a:bodyPr>
          <a:lstStyle/>
          <a:p>
            <a:r>
              <a:rPr sz="1400">
                <a:solidFill>
                  <a:srgbClr val="1F2B34"/>
                </a:solidFill>
                <a:latin typeface="Arial"/>
              </a:rPr>
              <a:t>•  Unit of analysis: Country–Year</a:t>
            </a:r>
          </a:p>
          <a:p>
            <a:r>
              <a:rPr sz="1400">
                <a:solidFill>
                  <a:srgbClr val="1F2B34"/>
                </a:solidFill>
                <a:latin typeface="Arial"/>
              </a:rPr>
              <a:t>•  Geography: 51 African countries</a:t>
            </a:r>
          </a:p>
          <a:p>
            <a:r>
              <a:rPr sz="1400">
                <a:solidFill>
                  <a:srgbClr val="1F2B34"/>
                </a:solidFill>
                <a:latin typeface="Arial"/>
              </a:rPr>
              <a:t>•  Observations: 1,213 country-year records</a:t>
            </a:r>
          </a:p>
          <a:p>
            <a:r>
              <a:rPr sz="1400">
                <a:solidFill>
                  <a:srgbClr val="1F2B34"/>
                </a:solidFill>
                <a:latin typeface="Arial"/>
              </a:rPr>
              <a:t>•  Indicators: % schools with Basic, Limited, or No Water, Sanitation, and Hygiene service</a:t>
            </a:r>
          </a:p>
          <a:p>
            <a:r>
              <a:rPr sz="1400">
                <a:solidFill>
                  <a:srgbClr val="1F2B34"/>
                </a:solidFill>
                <a:latin typeface="Arial"/>
              </a:rPr>
              <a:t>•  Setting: Schools — national, urban, and rural where available</a:t>
            </a:r>
          </a:p>
          <a:p>
            <a:r>
              <a:rPr sz="1400">
                <a:solidFill>
                  <a:srgbClr val="1F2B34"/>
                </a:solidFill>
                <a:latin typeface="Arial"/>
              </a:rPr>
              <a:t>•  Numeric indicators expressed as % of schools</a:t>
            </a:r>
          </a:p>
        </p:txBody>
      </p:sp>
      <p:sp>
        <p:nvSpPr>
          <p:cNvPr id="10" name="TextBox 9"/>
          <p:cNvSpPr txBox="1"/>
          <p:nvPr/>
        </p:nvSpPr>
        <p:spPr>
          <a:xfrm>
            <a:off x="457200" y="6537960"/>
            <a:ext cx="11247120" cy="274320"/>
          </a:xfrm>
          <a:prstGeom prst="rect">
            <a:avLst/>
          </a:prstGeom>
          <a:noFill/>
        </p:spPr>
        <p:txBody>
          <a:bodyPr wrap="square" lIns="45720" tIns="18288" rIns="45720" bIns="18288">
            <a:spAutoFit/>
          </a:bodyPr>
          <a:lstStyle/>
          <a:p>
            <a:pPr algn="l"/>
            <a:r>
              <a:rPr sz="900" b="0">
                <a:solidFill>
                  <a:srgbClr val="555555"/>
                </a:solidFill>
                <a:latin typeface="Arial"/>
              </a:rPr>
              <a:t>Source: WHO/UNICEF JMP (washdata.org), 2024 update.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289" y="-4572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32004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51876"/>
            <a:ext cx="11430000" cy="640080"/>
          </a:xfrm>
          <a:prstGeom prst="rect">
            <a:avLst/>
          </a:prstGeom>
          <a:noFill/>
        </p:spPr>
        <p:txBody>
          <a:bodyPr wrap="square" lIns="45720" tIns="18288" rIns="45720" bIns="18288">
            <a:spAutoFit/>
          </a:bodyPr>
          <a:lstStyle/>
          <a:p>
            <a:r>
              <a:rPr sz="2800" b="1" dirty="0">
                <a:solidFill>
                  <a:srgbClr val="1F2B34"/>
                </a:solidFill>
                <a:latin typeface="Arial"/>
              </a:rPr>
              <a:t>RQ1: Where is the water-access crisis concentrated?</a:t>
            </a:r>
          </a:p>
        </p:txBody>
      </p:sp>
      <p:sp>
        <p:nvSpPr>
          <p:cNvPr id="5" name="TextBox 4"/>
          <p:cNvSpPr txBox="1"/>
          <p:nvPr/>
        </p:nvSpPr>
        <p:spPr>
          <a:xfrm>
            <a:off x="365760" y="531936"/>
            <a:ext cx="11430000" cy="365760"/>
          </a:xfrm>
          <a:prstGeom prst="rect">
            <a:avLst/>
          </a:prstGeom>
          <a:noFill/>
        </p:spPr>
        <p:txBody>
          <a:bodyPr wrap="square" lIns="45720" tIns="18288" rIns="45720" bIns="18288">
            <a:spAutoFit/>
          </a:bodyPr>
          <a:lstStyle/>
          <a:p>
            <a:r>
              <a:rPr sz="1500" b="0" dirty="0">
                <a:solidFill>
                  <a:srgbClr val="4FC1B8"/>
                </a:solidFill>
                <a:latin typeface="Arial"/>
              </a:rPr>
              <a:t>Bottom 15 African countries by % schools with basic water access</a:t>
            </a:r>
          </a:p>
        </p:txBody>
      </p:sp>
      <p:sp>
        <p:nvSpPr>
          <p:cNvPr id="6" name="Oval 5"/>
          <p:cNvSpPr/>
          <p:nvPr/>
        </p:nvSpPr>
        <p:spPr>
          <a:xfrm flipV="1">
            <a:off x="502920" y="137160"/>
            <a:ext cx="45719" cy="27432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1.png"/>
          <p:cNvPicPr>
            <a:picLocks noChangeAspect="1"/>
          </p:cNvPicPr>
          <p:nvPr/>
        </p:nvPicPr>
        <p:blipFill>
          <a:blip r:embed="rId2"/>
          <a:stretch>
            <a:fillRect/>
          </a:stretch>
        </p:blipFill>
        <p:spPr>
          <a:xfrm>
            <a:off x="548640" y="837468"/>
            <a:ext cx="10058400" cy="3931920"/>
          </a:xfrm>
          <a:prstGeom prst="rect">
            <a:avLst/>
          </a:prstGeom>
        </p:spPr>
      </p:pic>
      <p:sp>
        <p:nvSpPr>
          <p:cNvPr id="8" name="TextBox 7"/>
          <p:cNvSpPr txBox="1"/>
          <p:nvPr/>
        </p:nvSpPr>
        <p:spPr>
          <a:xfrm>
            <a:off x="524448" y="4684341"/>
            <a:ext cx="10972800" cy="320040"/>
          </a:xfrm>
          <a:prstGeom prst="rect">
            <a:avLst/>
          </a:prstGeom>
          <a:noFill/>
        </p:spPr>
        <p:txBody>
          <a:bodyPr wrap="square" lIns="45720" tIns="18288" rIns="45720" bIns="18288">
            <a:spAutoFit/>
          </a:bodyPr>
          <a:lstStyle/>
          <a:p>
            <a:r>
              <a:rPr sz="1600" b="1" dirty="0">
                <a:solidFill>
                  <a:srgbClr val="4FC1B8"/>
                </a:solidFill>
                <a:latin typeface="Arial"/>
              </a:rPr>
              <a:t>Analysis + Why</a:t>
            </a:r>
          </a:p>
        </p:txBody>
      </p:sp>
      <p:sp>
        <p:nvSpPr>
          <p:cNvPr id="9" name="TextBox 8"/>
          <p:cNvSpPr txBox="1"/>
          <p:nvPr/>
        </p:nvSpPr>
        <p:spPr>
          <a:xfrm>
            <a:off x="548641" y="5004381"/>
            <a:ext cx="10558204" cy="1654035"/>
          </a:xfrm>
          <a:prstGeom prst="rect">
            <a:avLst/>
          </a:prstGeom>
          <a:noFill/>
        </p:spPr>
        <p:txBody>
          <a:bodyPr wrap="square">
            <a:spAutoFit/>
          </a:bodyPr>
          <a:lstStyle/>
          <a:p>
            <a:r>
              <a:rPr sz="1220" dirty="0">
                <a:solidFill>
                  <a:srgbClr val="1F2B34"/>
                </a:solidFill>
                <a:latin typeface="Arial"/>
              </a:rPr>
              <a:t>•  Cameroon (24%), Ethiopia (29%), Chad (30%) and Nigeria (36%) define the crisis cluster.</a:t>
            </a:r>
            <a:r>
              <a:rPr lang="en-US" sz="1220" dirty="0">
                <a:solidFill>
                  <a:srgbClr val="1F2B34"/>
                </a:solidFill>
                <a:latin typeface="Arial"/>
              </a:rPr>
              <a:t> And c</a:t>
            </a:r>
            <a:r>
              <a:rPr sz="1220" dirty="0">
                <a:solidFill>
                  <a:srgbClr val="1F2B34"/>
                </a:solidFill>
                <a:latin typeface="Arial"/>
              </a:rPr>
              <a:t>risis is concentrated in West and Central Africa; North African states do not appear in the bottom group.</a:t>
            </a:r>
          </a:p>
          <a:p>
            <a:r>
              <a:rPr lang="en-US" sz="1220" dirty="0">
                <a:solidFill>
                  <a:srgbClr val="1F2B34"/>
                </a:solidFill>
                <a:latin typeface="Arial"/>
              </a:rPr>
              <a:t>•  Why: Access to safe drinking water is the foundation of WASH. Without it:</a:t>
            </a:r>
          </a:p>
          <a:p>
            <a:r>
              <a:rPr lang="en-US" sz="1220" dirty="0">
                <a:solidFill>
                  <a:srgbClr val="1F2B34"/>
                </a:solidFill>
                <a:latin typeface="Arial"/>
              </a:rPr>
              <a:t>- Students cannot drink safely during school hours</a:t>
            </a:r>
          </a:p>
          <a:p>
            <a:r>
              <a:rPr lang="en-US" sz="1220" dirty="0">
                <a:solidFill>
                  <a:srgbClr val="1F2B34"/>
                </a:solidFill>
                <a:latin typeface="Arial"/>
              </a:rPr>
              <a:t>- Teachers cannot prepare food safely</a:t>
            </a:r>
          </a:p>
          <a:p>
            <a:r>
              <a:rPr lang="en-US" sz="1220" dirty="0">
                <a:solidFill>
                  <a:srgbClr val="1F2B34"/>
                </a:solidFill>
                <a:latin typeface="Arial"/>
              </a:rPr>
              <a:t>- Disease prevention is impossible</a:t>
            </a:r>
          </a:p>
          <a:p>
            <a:r>
              <a:rPr lang="en-US" sz="1220" dirty="0">
                <a:solidFill>
                  <a:srgbClr val="1F2B34"/>
                </a:solidFill>
                <a:latin typeface="Arial"/>
              </a:rPr>
              <a:t>- All other WASH initiatives fail</a:t>
            </a:r>
          </a:p>
          <a:p>
            <a:endParaRPr sz="1220" dirty="0">
              <a:solidFill>
                <a:srgbClr val="1F2B34"/>
              </a:solidFill>
              <a:latin typeface="Arial"/>
            </a:endParaRPr>
          </a:p>
        </p:txBody>
      </p:sp>
      <p:sp>
        <p:nvSpPr>
          <p:cNvPr id="10" name="TextBox 9"/>
          <p:cNvSpPr txBox="1"/>
          <p:nvPr/>
        </p:nvSpPr>
        <p:spPr>
          <a:xfrm>
            <a:off x="457200" y="6537960"/>
            <a:ext cx="11247120" cy="274320"/>
          </a:xfrm>
          <a:prstGeom prst="rect">
            <a:avLst/>
          </a:prstGeom>
          <a:noFill/>
        </p:spPr>
        <p:txBody>
          <a:bodyPr wrap="square" lIns="45720" tIns="18288" rIns="45720" bIns="18288">
            <a:spAutoFit/>
          </a:bodyPr>
          <a:lstStyle/>
          <a:p>
            <a:pPr algn="l"/>
            <a:r>
              <a:rPr sz="900" b="0">
                <a:solidFill>
                  <a:srgbClr val="555555"/>
                </a:solidFill>
                <a:latin typeface="Arial"/>
              </a:rPr>
              <a:t>Source: WHO/UNICEF Joint Monitoring Programme (JMP), 2024.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82296"/>
            <a:ext cx="11430000" cy="467820"/>
          </a:xfrm>
          <a:prstGeom prst="rect">
            <a:avLst/>
          </a:prstGeom>
          <a:noFill/>
        </p:spPr>
        <p:txBody>
          <a:bodyPr wrap="square" lIns="45720" tIns="18288" rIns="45720" bIns="18288">
            <a:spAutoFit/>
          </a:bodyPr>
          <a:lstStyle/>
          <a:p>
            <a:r>
              <a:rPr sz="2800" b="1" dirty="0">
                <a:solidFill>
                  <a:srgbClr val="1F2B34"/>
                </a:solidFill>
                <a:latin typeface="Arial"/>
              </a:rPr>
              <a:t>RQ</a:t>
            </a:r>
            <a:r>
              <a:rPr lang="en-US" sz="2800" b="1" dirty="0">
                <a:solidFill>
                  <a:srgbClr val="1F2B34"/>
                </a:solidFill>
                <a:latin typeface="Arial"/>
              </a:rPr>
              <a:t>2</a:t>
            </a:r>
            <a:r>
              <a:rPr sz="2800" b="1" dirty="0">
                <a:solidFill>
                  <a:srgbClr val="1F2B34"/>
                </a:solidFill>
                <a:latin typeface="Arial"/>
              </a:rPr>
              <a:t>: Is sanitation progress fast enough?</a:t>
            </a:r>
          </a:p>
        </p:txBody>
      </p:sp>
      <p:sp>
        <p:nvSpPr>
          <p:cNvPr id="5" name="TextBox 4"/>
          <p:cNvSpPr txBox="1"/>
          <p:nvPr/>
        </p:nvSpPr>
        <p:spPr>
          <a:xfrm>
            <a:off x="540867" y="493212"/>
            <a:ext cx="11430000" cy="365760"/>
          </a:xfrm>
          <a:prstGeom prst="rect">
            <a:avLst/>
          </a:prstGeom>
          <a:noFill/>
        </p:spPr>
        <p:txBody>
          <a:bodyPr wrap="square" lIns="45720" tIns="18288" rIns="45720" bIns="18288">
            <a:spAutoFit/>
          </a:bodyPr>
          <a:lstStyle/>
          <a:p>
            <a:r>
              <a:rPr sz="1500" b="0" dirty="0">
                <a:solidFill>
                  <a:srgbClr val="4FC1B8"/>
                </a:solidFill>
                <a:latin typeface="Arial"/>
              </a:rPr>
              <a:t>Africa-wide sanitation access trend with projection to 2030</a:t>
            </a:r>
          </a:p>
        </p:txBody>
      </p:sp>
      <p:sp>
        <p:nvSpPr>
          <p:cNvPr id="6" name="Oval 5"/>
          <p:cNvSpPr/>
          <p:nvPr/>
        </p:nvSpPr>
        <p:spPr>
          <a:xfrm flipH="1" flipV="1">
            <a:off x="457200" y="331470"/>
            <a:ext cx="45720" cy="8001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3.png"/>
          <p:cNvPicPr>
            <a:picLocks noChangeAspect="1"/>
          </p:cNvPicPr>
          <p:nvPr/>
        </p:nvPicPr>
        <p:blipFill>
          <a:blip r:embed="rId2"/>
          <a:stretch>
            <a:fillRect/>
          </a:stretch>
        </p:blipFill>
        <p:spPr>
          <a:xfrm>
            <a:off x="320040" y="757736"/>
            <a:ext cx="10058400" cy="3915591"/>
          </a:xfrm>
          <a:prstGeom prst="rect">
            <a:avLst/>
          </a:prstGeom>
        </p:spPr>
      </p:pic>
      <p:sp>
        <p:nvSpPr>
          <p:cNvPr id="8" name="TextBox 7"/>
          <p:cNvSpPr txBox="1"/>
          <p:nvPr/>
        </p:nvSpPr>
        <p:spPr>
          <a:xfrm>
            <a:off x="540867" y="4560907"/>
            <a:ext cx="10972800" cy="320040"/>
          </a:xfrm>
          <a:prstGeom prst="rect">
            <a:avLst/>
          </a:prstGeom>
          <a:noFill/>
        </p:spPr>
        <p:txBody>
          <a:bodyPr wrap="square" lIns="45720" tIns="18288" rIns="45720" bIns="18288">
            <a:spAutoFit/>
          </a:bodyPr>
          <a:lstStyle/>
          <a:p>
            <a:r>
              <a:rPr sz="1600" b="1" dirty="0">
                <a:solidFill>
                  <a:srgbClr val="4FC1B8"/>
                </a:solidFill>
                <a:latin typeface="Arial"/>
              </a:rPr>
              <a:t>Analysis + Why</a:t>
            </a:r>
          </a:p>
        </p:txBody>
      </p:sp>
      <p:sp>
        <p:nvSpPr>
          <p:cNvPr id="9" name="TextBox 8"/>
          <p:cNvSpPr txBox="1"/>
          <p:nvPr/>
        </p:nvSpPr>
        <p:spPr>
          <a:xfrm>
            <a:off x="609447" y="4850913"/>
            <a:ext cx="10972800" cy="1997470"/>
          </a:xfrm>
          <a:prstGeom prst="rect">
            <a:avLst/>
          </a:prstGeom>
          <a:noFill/>
        </p:spPr>
        <p:txBody>
          <a:bodyPr wrap="square">
            <a:spAutoFit/>
          </a:bodyPr>
          <a:lstStyle/>
          <a:p>
            <a:r>
              <a:rPr sz="1220" dirty="0">
                <a:solidFill>
                  <a:srgbClr val="1F2B34"/>
                </a:solidFill>
                <a:latin typeface="Arial"/>
              </a:rPr>
              <a:t>•  Sanitation access rose from ~7.8% (2000) to 52% (2023) — real progress, but slowing.</a:t>
            </a:r>
          </a:p>
          <a:p>
            <a:r>
              <a:rPr sz="1220" dirty="0">
                <a:solidFill>
                  <a:srgbClr val="1F2B34"/>
                </a:solidFill>
                <a:latin typeface="Arial"/>
              </a:rPr>
              <a:t>•  Gains have plateaued since ~2012, growing less than 1 percentage point per year.</a:t>
            </a:r>
          </a:p>
          <a:p>
            <a:r>
              <a:rPr sz="1220" dirty="0">
                <a:solidFill>
                  <a:srgbClr val="1F2B34"/>
                </a:solidFill>
                <a:latin typeface="Arial"/>
              </a:rPr>
              <a:t>•  Projection reaches only 68.4% by 2030 — a 21.6 pp gap below the SDG target.</a:t>
            </a:r>
          </a:p>
          <a:p>
            <a:r>
              <a:rPr sz="1220" dirty="0">
                <a:solidFill>
                  <a:srgbClr val="1F2B34"/>
                </a:solidFill>
                <a:latin typeface="Arial"/>
              </a:rPr>
              <a:t>•  Why: </a:t>
            </a:r>
            <a:endParaRPr lang="en-US" sz="1220" dirty="0">
              <a:solidFill>
                <a:srgbClr val="1F2B34"/>
              </a:solidFill>
              <a:latin typeface="Arial"/>
            </a:endParaRPr>
          </a:p>
          <a:p>
            <a:r>
              <a:rPr lang="en-US" sz="1220" dirty="0">
                <a:solidFill>
                  <a:srgbClr val="1F2B34"/>
                </a:solidFill>
                <a:latin typeface="Arial"/>
              </a:rPr>
              <a:t>Competing Development Priorities</a:t>
            </a:r>
          </a:p>
          <a:p>
            <a:r>
              <a:rPr lang="en-US" sz="1220" dirty="0">
                <a:solidFill>
                  <a:srgbClr val="1F2B34"/>
                </a:solidFill>
                <a:latin typeface="Arial"/>
              </a:rPr>
              <a:t>Donor Fatigue and Fragmentation</a:t>
            </a:r>
          </a:p>
          <a:p>
            <a:r>
              <a:rPr lang="en-US" sz="1220" dirty="0">
                <a:solidFill>
                  <a:srgbClr val="1F2B34"/>
                </a:solidFill>
                <a:latin typeface="Arial"/>
              </a:rPr>
              <a:t>Maintenance Failure</a:t>
            </a:r>
          </a:p>
          <a:p>
            <a:r>
              <a:rPr lang="en-US" sz="1220" dirty="0">
                <a:solidFill>
                  <a:srgbClr val="1F2B34"/>
                </a:solidFill>
                <a:latin typeface="Arial"/>
              </a:rPr>
              <a:t>Rural –Urban divide</a:t>
            </a:r>
          </a:p>
          <a:p>
            <a:endParaRPr lang="en-US" sz="1400" b="0" dirty="0">
              <a:effectLst/>
              <a:latin typeface="Consolas" panose="020B0609020204030204" pitchFamily="49" charset="0"/>
            </a:endParaRPr>
          </a:p>
          <a:p>
            <a:endParaRPr sz="1220" dirty="0">
              <a:solidFill>
                <a:srgbClr val="1F2B34"/>
              </a:solidFill>
              <a:latin typeface="Arial"/>
            </a:endParaRPr>
          </a:p>
        </p:txBody>
      </p:sp>
      <p:sp>
        <p:nvSpPr>
          <p:cNvPr id="10" name="TextBox 9"/>
          <p:cNvSpPr txBox="1"/>
          <p:nvPr/>
        </p:nvSpPr>
        <p:spPr>
          <a:xfrm>
            <a:off x="457200" y="6537960"/>
            <a:ext cx="11247120" cy="274320"/>
          </a:xfrm>
          <a:prstGeom prst="rect">
            <a:avLst/>
          </a:prstGeom>
          <a:noFill/>
        </p:spPr>
        <p:txBody>
          <a:bodyPr wrap="square" lIns="45720" tIns="18288" rIns="45720" bIns="18288">
            <a:spAutoFit/>
          </a:bodyPr>
          <a:lstStyle/>
          <a:p>
            <a:pPr algn="l"/>
            <a:r>
              <a:rPr sz="900" b="0">
                <a:solidFill>
                  <a:srgbClr val="555555"/>
                </a:solidFill>
                <a:latin typeface="Arial"/>
              </a:rPr>
              <a:t>Source: WHO/UNICEF Joint Monitoring Programme (JMP), 2024.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4603" y="114753"/>
            <a:ext cx="11430000" cy="483209"/>
          </a:xfrm>
          <a:prstGeom prst="rect">
            <a:avLst/>
          </a:prstGeom>
          <a:noFill/>
        </p:spPr>
        <p:txBody>
          <a:bodyPr wrap="square" lIns="45720" tIns="18288" rIns="45720" bIns="18288">
            <a:spAutoFit/>
          </a:bodyPr>
          <a:lstStyle/>
          <a:p>
            <a:r>
              <a:rPr sz="2900" b="1" dirty="0">
                <a:solidFill>
                  <a:srgbClr val="1F2D3A"/>
                </a:solidFill>
                <a:latin typeface="Arial"/>
              </a:rPr>
              <a:t>RQ</a:t>
            </a:r>
            <a:r>
              <a:rPr lang="en-US" sz="2900" b="1" dirty="0">
                <a:solidFill>
                  <a:srgbClr val="1F2D3A"/>
                </a:solidFill>
                <a:latin typeface="Arial"/>
              </a:rPr>
              <a:t>3</a:t>
            </a:r>
            <a:r>
              <a:rPr sz="2900" b="1" dirty="0">
                <a:solidFill>
                  <a:srgbClr val="1F2D3A"/>
                </a:solidFill>
                <a:latin typeface="Arial"/>
              </a:rPr>
              <a:t>: How complete are national WASH systems?</a:t>
            </a:r>
          </a:p>
        </p:txBody>
      </p:sp>
      <p:sp>
        <p:nvSpPr>
          <p:cNvPr id="5" name="TextBox 4"/>
          <p:cNvSpPr txBox="1"/>
          <p:nvPr/>
        </p:nvSpPr>
        <p:spPr>
          <a:xfrm>
            <a:off x="486004" y="605563"/>
            <a:ext cx="11430000" cy="365760"/>
          </a:xfrm>
          <a:prstGeom prst="rect">
            <a:avLst/>
          </a:prstGeom>
          <a:noFill/>
        </p:spPr>
        <p:txBody>
          <a:bodyPr wrap="square" lIns="45720" tIns="18288" rIns="45720" bIns="18288">
            <a:spAutoFit/>
          </a:bodyPr>
          <a:lstStyle/>
          <a:p>
            <a:r>
              <a:rPr sz="1600" dirty="0">
                <a:solidFill>
                  <a:srgbClr val="4EBEB2"/>
                </a:solidFill>
                <a:latin typeface="Arial"/>
              </a:rPr>
              <a:t>WASH service profile distribution, by completeness category</a:t>
            </a:r>
          </a:p>
        </p:txBody>
      </p:sp>
      <p:sp>
        <p:nvSpPr>
          <p:cNvPr id="6" name="Oval 5"/>
          <p:cNvSpPr/>
          <p:nvPr/>
        </p:nvSpPr>
        <p:spPr>
          <a:xfrm flipV="1">
            <a:off x="502920" y="308610"/>
            <a:ext cx="45719" cy="102870"/>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0100" y="4892040"/>
            <a:ext cx="10812780" cy="298543"/>
          </a:xfrm>
          <a:prstGeom prst="rect">
            <a:avLst/>
          </a:prstGeom>
          <a:noFill/>
        </p:spPr>
        <p:txBody>
          <a:bodyPr wrap="square" lIns="45720" tIns="18288" rIns="45720" bIns="18288">
            <a:spAutoFit/>
          </a:bodyPr>
          <a:lstStyle/>
          <a:p>
            <a:r>
              <a:rPr sz="1700" b="1" dirty="0">
                <a:solidFill>
                  <a:srgbClr val="4EBEB2"/>
                </a:solidFill>
                <a:latin typeface="Arial"/>
              </a:rPr>
              <a:t>Analysis + Why</a:t>
            </a:r>
          </a:p>
        </p:txBody>
      </p:sp>
      <p:pic>
        <p:nvPicPr>
          <p:cNvPr id="11" name="Picture 10" descr="image.png"/>
          <p:cNvPicPr>
            <a:picLocks noChangeAspect="1"/>
          </p:cNvPicPr>
          <p:nvPr/>
        </p:nvPicPr>
        <p:blipFill>
          <a:blip r:embed="rId2"/>
          <a:stretch>
            <a:fillRect/>
          </a:stretch>
        </p:blipFill>
        <p:spPr>
          <a:xfrm>
            <a:off x="1176858" y="1018299"/>
            <a:ext cx="4918989" cy="3886200"/>
          </a:xfrm>
          <a:prstGeom prst="rect">
            <a:avLst/>
          </a:prstGeom>
        </p:spPr>
      </p:pic>
      <p:sp>
        <p:nvSpPr>
          <p:cNvPr id="12" name="TextBox 11"/>
          <p:cNvSpPr txBox="1"/>
          <p:nvPr/>
        </p:nvSpPr>
        <p:spPr>
          <a:xfrm>
            <a:off x="640080" y="5321808"/>
            <a:ext cx="11275924" cy="1058238"/>
          </a:xfrm>
          <a:prstGeom prst="rect">
            <a:avLst/>
          </a:prstGeom>
          <a:noFill/>
        </p:spPr>
        <p:txBody>
          <a:bodyPr wrap="square" lIns="0" tIns="0" rIns="0" bIns="0">
            <a:spAutoFit/>
          </a:bodyPr>
          <a:lstStyle/>
          <a:p>
            <a:pPr>
              <a:lnSpc>
                <a:spcPct val="95000"/>
              </a:lnSpc>
              <a:spcAft>
                <a:spcPts val="100"/>
              </a:spcAft>
            </a:pPr>
            <a:r>
              <a:rPr sz="1000" b="0" dirty="0">
                <a:solidFill>
                  <a:srgbClr val="1F2D3A"/>
                </a:solidFill>
                <a:latin typeface="Arial"/>
              </a:rPr>
              <a:t>•  27% of countries have complete WASH systems; 33% have no complete school WASH system.</a:t>
            </a:r>
          </a:p>
          <a:p>
            <a:pPr>
              <a:lnSpc>
                <a:spcPct val="95000"/>
              </a:lnSpc>
              <a:spcAft>
                <a:spcPts val="100"/>
              </a:spcAft>
            </a:pPr>
            <a:r>
              <a:rPr sz="1000" b="0" dirty="0">
                <a:solidFill>
                  <a:srgbClr val="1F2D3A"/>
                </a:solidFill>
                <a:latin typeface="Arial"/>
              </a:rPr>
              <a:t>•  Why: </a:t>
            </a:r>
            <a:endParaRPr lang="en-US" sz="1000" b="0" dirty="0">
              <a:solidFill>
                <a:srgbClr val="1F2D3A"/>
              </a:solidFill>
              <a:latin typeface="Arial"/>
            </a:endParaRPr>
          </a:p>
          <a:p>
            <a:pPr marL="628650" lvl="1" indent="-171450">
              <a:lnSpc>
                <a:spcPct val="95000"/>
              </a:lnSpc>
              <a:spcAft>
                <a:spcPts val="100"/>
              </a:spcAft>
              <a:buFont typeface="Arial" panose="020B0604020202020204" pitchFamily="34" charset="0"/>
              <a:buChar char="•"/>
            </a:pPr>
            <a:r>
              <a:rPr lang="en-US" sz="1200" dirty="0">
                <a:solidFill>
                  <a:srgbClr val="1F2D3A"/>
                </a:solidFill>
                <a:latin typeface="Arial"/>
              </a:rPr>
              <a:t>Infrastructure is built in phases ,not integrated</a:t>
            </a:r>
          </a:p>
          <a:p>
            <a:pPr marL="628650" lvl="1" indent="-171450">
              <a:lnSpc>
                <a:spcPct val="95000"/>
              </a:lnSpc>
              <a:spcAft>
                <a:spcPts val="100"/>
              </a:spcAft>
              <a:buFont typeface="Arial" panose="020B0604020202020204" pitchFamily="34" charset="0"/>
              <a:buChar char="•"/>
            </a:pPr>
            <a:r>
              <a:rPr lang="en-US" sz="1200" dirty="0">
                <a:solidFill>
                  <a:srgbClr val="1F2D3A"/>
                </a:solidFill>
                <a:latin typeface="Arial"/>
              </a:rPr>
              <a:t>Each component has different maintenance requirements</a:t>
            </a:r>
          </a:p>
          <a:p>
            <a:pPr marL="628650" lvl="1" indent="-171450">
              <a:lnSpc>
                <a:spcPct val="95000"/>
              </a:lnSpc>
              <a:spcAft>
                <a:spcPts val="100"/>
              </a:spcAft>
              <a:buFont typeface="Arial" panose="020B0604020202020204" pitchFamily="34" charset="0"/>
              <a:buChar char="•"/>
            </a:pPr>
            <a:r>
              <a:rPr lang="en-US" sz="1200" b="0" dirty="0">
                <a:solidFill>
                  <a:srgbClr val="1F2D3A"/>
                </a:solidFill>
                <a:latin typeface="Arial"/>
              </a:rPr>
              <a:t>The  skill gap</a:t>
            </a:r>
          </a:p>
          <a:p>
            <a:pPr marL="628650" lvl="1" indent="-171450">
              <a:lnSpc>
                <a:spcPct val="95000"/>
              </a:lnSpc>
              <a:spcAft>
                <a:spcPts val="100"/>
              </a:spcAft>
              <a:buFont typeface="Arial" panose="020B0604020202020204" pitchFamily="34" charset="0"/>
              <a:buChar char="•"/>
            </a:pPr>
            <a:r>
              <a:rPr lang="en-US" sz="1200" dirty="0">
                <a:solidFill>
                  <a:srgbClr val="1F2D3A"/>
                </a:solidFill>
                <a:latin typeface="Arial"/>
              </a:rPr>
              <a:t>Donor preferences</a:t>
            </a:r>
            <a:endParaRPr sz="1200" b="0" dirty="0">
              <a:solidFill>
                <a:srgbClr val="1F2D3A"/>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 y="31915"/>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32004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9033"/>
            <a:ext cx="11430000" cy="483209"/>
          </a:xfrm>
          <a:prstGeom prst="rect">
            <a:avLst/>
          </a:prstGeom>
          <a:noFill/>
        </p:spPr>
        <p:txBody>
          <a:bodyPr wrap="square" lIns="45720" tIns="18288" rIns="45720" bIns="18288">
            <a:spAutoFit/>
          </a:bodyPr>
          <a:lstStyle/>
          <a:p>
            <a:r>
              <a:rPr sz="2900" b="1" dirty="0">
                <a:solidFill>
                  <a:srgbClr val="1F2D3A"/>
                </a:solidFill>
                <a:latin typeface="Arial"/>
              </a:rPr>
              <a:t>RQ</a:t>
            </a:r>
            <a:r>
              <a:rPr lang="en-US" sz="2900" b="1" dirty="0">
                <a:solidFill>
                  <a:srgbClr val="1F2D3A"/>
                </a:solidFill>
                <a:latin typeface="Arial"/>
              </a:rPr>
              <a:t>4</a:t>
            </a:r>
            <a:r>
              <a:rPr sz="2900" b="1" dirty="0">
                <a:solidFill>
                  <a:srgbClr val="1F2D3A"/>
                </a:solidFill>
                <a:latin typeface="Arial"/>
              </a:rPr>
              <a:t>:</a:t>
            </a:r>
            <a:r>
              <a:rPr lang="en-US" sz="2900" b="1" dirty="0">
                <a:solidFill>
                  <a:srgbClr val="1F2D3A"/>
                </a:solidFill>
                <a:latin typeface="Arial"/>
              </a:rPr>
              <a:t> WASH Infrastructure &amp; Education Outcomes</a:t>
            </a:r>
            <a:endParaRPr sz="2900" b="1" dirty="0">
              <a:solidFill>
                <a:srgbClr val="1F2D3A"/>
              </a:solidFill>
              <a:latin typeface="Arial"/>
            </a:endParaRPr>
          </a:p>
        </p:txBody>
      </p:sp>
      <p:sp>
        <p:nvSpPr>
          <p:cNvPr id="5" name="TextBox 4"/>
          <p:cNvSpPr txBox="1"/>
          <p:nvPr/>
        </p:nvSpPr>
        <p:spPr>
          <a:xfrm>
            <a:off x="548640" y="493776"/>
            <a:ext cx="11430000" cy="776110"/>
          </a:xfrm>
          <a:prstGeom prst="rect">
            <a:avLst/>
          </a:prstGeom>
          <a:noFill/>
        </p:spPr>
        <p:txBody>
          <a:bodyPr wrap="square" lIns="45720" tIns="18288" rIns="45720" bIns="18288">
            <a:spAutoFit/>
          </a:bodyPr>
          <a:lstStyle/>
          <a:p>
            <a:r>
              <a:rPr lang="en-US" sz="1600" dirty="0">
                <a:solidFill>
                  <a:srgbClr val="4EBEB2"/>
                </a:solidFill>
                <a:latin typeface="Arial"/>
              </a:rPr>
              <a:t>Focus on Completion Rates (r = 0.66)</a:t>
            </a:r>
          </a:p>
          <a:p>
            <a:r>
              <a:rPr lang="en-US" sz="1600" b="0" dirty="0">
                <a:solidFill>
                  <a:schemeClr val="accent3"/>
                </a:solidFill>
                <a:latin typeface="Arial"/>
              </a:rPr>
              <a:t>Better Health + Better Grades – Child stays motivated – Completes School</a:t>
            </a:r>
          </a:p>
          <a:p>
            <a:endParaRPr sz="1600" dirty="0">
              <a:solidFill>
                <a:srgbClr val="4EBEB2"/>
              </a:solidFill>
              <a:latin typeface="Arial"/>
            </a:endParaRPr>
          </a:p>
        </p:txBody>
      </p:sp>
      <p:sp>
        <p:nvSpPr>
          <p:cNvPr id="6" name="Oval 5"/>
          <p:cNvSpPr/>
          <p:nvPr/>
        </p:nvSpPr>
        <p:spPr>
          <a:xfrm flipH="1" flipV="1">
            <a:off x="502921" y="184734"/>
            <a:ext cx="45719" cy="226746"/>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5074865"/>
            <a:ext cx="10972800" cy="320040"/>
          </a:xfrm>
          <a:prstGeom prst="rect">
            <a:avLst/>
          </a:prstGeom>
          <a:noFill/>
        </p:spPr>
        <p:txBody>
          <a:bodyPr wrap="square" lIns="45720" tIns="18288" rIns="45720" bIns="18288">
            <a:spAutoFit/>
          </a:bodyPr>
          <a:lstStyle/>
          <a:p>
            <a:r>
              <a:rPr sz="1700" b="1" dirty="0">
                <a:solidFill>
                  <a:srgbClr val="4EBEB2"/>
                </a:solidFill>
                <a:latin typeface="Arial"/>
              </a:rPr>
              <a:t>Analysis + Why</a:t>
            </a:r>
          </a:p>
        </p:txBody>
      </p:sp>
      <p:sp>
        <p:nvSpPr>
          <p:cNvPr id="12" name="TextBox 11"/>
          <p:cNvSpPr txBox="1"/>
          <p:nvPr/>
        </p:nvSpPr>
        <p:spPr>
          <a:xfrm>
            <a:off x="2179015" y="4952701"/>
            <a:ext cx="10058400" cy="2246256"/>
          </a:xfrm>
          <a:prstGeom prst="rect">
            <a:avLst/>
          </a:prstGeom>
          <a:noFill/>
        </p:spPr>
        <p:txBody>
          <a:bodyPr wrap="square" lIns="0" tIns="0" rIns="0" bIns="0">
            <a:spAutoFit/>
          </a:bodyPr>
          <a:lstStyle/>
          <a:p>
            <a:pPr>
              <a:lnSpc>
                <a:spcPct val="95000"/>
              </a:lnSpc>
              <a:spcAft>
                <a:spcPts val="100"/>
              </a:spcAft>
            </a:pPr>
            <a:endParaRPr lang="en-US" sz="1200" b="0" dirty="0">
              <a:solidFill>
                <a:srgbClr val="1F2D3A"/>
              </a:solidFill>
              <a:latin typeface="Arial"/>
            </a:endParaRPr>
          </a:p>
          <a:p>
            <a:pPr>
              <a:lnSpc>
                <a:spcPct val="95000"/>
              </a:lnSpc>
              <a:spcAft>
                <a:spcPts val="100"/>
              </a:spcAft>
            </a:pPr>
            <a:r>
              <a:rPr lang="en-US" sz="1200" dirty="0">
                <a:solidFill>
                  <a:srgbClr val="1F2D3A"/>
                </a:solidFill>
                <a:latin typeface="Arial"/>
              </a:rPr>
              <a:t>Primary Reason for drop out - repeated school failure </a:t>
            </a:r>
          </a:p>
          <a:p>
            <a:pPr>
              <a:lnSpc>
                <a:spcPct val="95000"/>
              </a:lnSpc>
              <a:spcAft>
                <a:spcPts val="100"/>
              </a:spcAft>
            </a:pPr>
            <a:r>
              <a:rPr lang="en-US" sz="1200" dirty="0">
                <a:solidFill>
                  <a:srgbClr val="1F2D3A"/>
                </a:solidFill>
                <a:latin typeface="Arial"/>
              </a:rPr>
              <a:t>Secondary 	Reason – Menstruation related stigma for girls + absence</a:t>
            </a:r>
          </a:p>
          <a:p>
            <a:pPr>
              <a:lnSpc>
                <a:spcPct val="95000"/>
              </a:lnSpc>
              <a:spcAft>
                <a:spcPts val="100"/>
              </a:spcAft>
            </a:pPr>
            <a:r>
              <a:rPr lang="en-US" sz="1200" dirty="0">
                <a:solidFill>
                  <a:srgbClr val="1F2D3A"/>
                </a:solidFill>
                <a:latin typeface="Arial"/>
              </a:rPr>
              <a:t>Students who miss 30+ days /year are 40% likely to dropout and students with poor grades lose motivation</a:t>
            </a:r>
          </a:p>
          <a:p>
            <a:pPr>
              <a:lnSpc>
                <a:spcPct val="95000"/>
              </a:lnSpc>
              <a:spcAft>
                <a:spcPts val="100"/>
              </a:spcAft>
            </a:pPr>
            <a:endParaRPr lang="en-US" sz="1200" dirty="0">
              <a:solidFill>
                <a:srgbClr val="1F2D3A"/>
              </a:solidFill>
              <a:latin typeface="Arial"/>
            </a:endParaRPr>
          </a:p>
          <a:p>
            <a:pPr>
              <a:lnSpc>
                <a:spcPct val="95000"/>
              </a:lnSpc>
              <a:spcAft>
                <a:spcPts val="100"/>
              </a:spcAft>
            </a:pPr>
            <a:r>
              <a:rPr lang="en-US" sz="1200" dirty="0">
                <a:solidFill>
                  <a:srgbClr val="1F2D3A"/>
                </a:solidFill>
                <a:latin typeface="Arial"/>
              </a:rPr>
              <a:t>How WASH Prevents dropout:</a:t>
            </a:r>
          </a:p>
          <a:p>
            <a:pPr>
              <a:lnSpc>
                <a:spcPct val="95000"/>
              </a:lnSpc>
              <a:spcAft>
                <a:spcPts val="100"/>
              </a:spcAft>
            </a:pPr>
            <a:r>
              <a:rPr lang="en-US" sz="1200" dirty="0">
                <a:solidFill>
                  <a:srgbClr val="1F2D3A"/>
                </a:solidFill>
                <a:latin typeface="Arial"/>
              </a:rPr>
              <a:t>There is improved attendance</a:t>
            </a:r>
          </a:p>
          <a:p>
            <a:pPr>
              <a:lnSpc>
                <a:spcPct val="95000"/>
              </a:lnSpc>
              <a:spcAft>
                <a:spcPts val="100"/>
              </a:spcAft>
            </a:pPr>
            <a:r>
              <a:rPr lang="en-US" sz="1200" dirty="0">
                <a:solidFill>
                  <a:srgbClr val="1F2D3A"/>
                </a:solidFill>
                <a:latin typeface="Arial"/>
              </a:rPr>
              <a:t>Better grades – increased motivation and confidence</a:t>
            </a:r>
          </a:p>
          <a:p>
            <a:pPr>
              <a:lnSpc>
                <a:spcPct val="95000"/>
              </a:lnSpc>
              <a:spcAft>
                <a:spcPts val="100"/>
              </a:spcAft>
            </a:pPr>
            <a:r>
              <a:rPr lang="en-US" sz="1200" dirty="0">
                <a:solidFill>
                  <a:srgbClr val="1F2D3A"/>
                </a:solidFill>
                <a:latin typeface="Arial"/>
              </a:rPr>
              <a:t>Menstruation hygiene facilities – girls stay in school</a:t>
            </a:r>
          </a:p>
          <a:p>
            <a:pPr>
              <a:lnSpc>
                <a:spcPct val="95000"/>
              </a:lnSpc>
              <a:spcAft>
                <a:spcPts val="100"/>
              </a:spcAft>
            </a:pPr>
            <a:r>
              <a:rPr lang="en-US" sz="1200" dirty="0">
                <a:solidFill>
                  <a:srgbClr val="1F2D3A"/>
                </a:solidFill>
                <a:latin typeface="Arial"/>
              </a:rPr>
              <a:t>Cumulative effect : completion rate improves by 15- 20% points</a:t>
            </a:r>
          </a:p>
          <a:p>
            <a:pPr>
              <a:lnSpc>
                <a:spcPct val="95000"/>
              </a:lnSpc>
              <a:spcAft>
                <a:spcPts val="100"/>
              </a:spcAft>
            </a:pPr>
            <a:endParaRPr lang="en-US" sz="1200" b="0" dirty="0">
              <a:solidFill>
                <a:srgbClr val="1F2D3A"/>
              </a:solidFill>
              <a:latin typeface="Arial"/>
            </a:endParaRPr>
          </a:p>
          <a:p>
            <a:pPr>
              <a:lnSpc>
                <a:spcPct val="95000"/>
              </a:lnSpc>
              <a:spcAft>
                <a:spcPts val="100"/>
              </a:spcAft>
            </a:pPr>
            <a:endParaRPr sz="1200" b="0" dirty="0">
              <a:solidFill>
                <a:srgbClr val="1F2D3A"/>
              </a:solidFill>
              <a:latin typeface="Arial"/>
            </a:endParaRPr>
          </a:p>
        </p:txBody>
      </p:sp>
      <p:pic>
        <p:nvPicPr>
          <p:cNvPr id="9" name="Picture 8">
            <a:extLst>
              <a:ext uri="{FF2B5EF4-FFF2-40B4-BE49-F238E27FC236}">
                <a16:creationId xmlns:a16="http://schemas.microsoft.com/office/drawing/2014/main" id="{A2B11028-15A3-4B07-8478-AD32A42211C8}"/>
              </a:ext>
            </a:extLst>
          </p:cNvPr>
          <p:cNvPicPr>
            <a:picLocks noChangeAspect="1"/>
          </p:cNvPicPr>
          <p:nvPr/>
        </p:nvPicPr>
        <p:blipFill>
          <a:blip r:embed="rId2"/>
          <a:stretch>
            <a:fillRect/>
          </a:stretch>
        </p:blipFill>
        <p:spPr>
          <a:xfrm>
            <a:off x="640081" y="1011957"/>
            <a:ext cx="5703570" cy="4106570"/>
          </a:xfrm>
          <a:prstGeom prst="rect">
            <a:avLst/>
          </a:prstGeom>
        </p:spPr>
      </p:pic>
    </p:spTree>
    <p:extLst>
      <p:ext uri="{BB962C8B-B14F-4D97-AF65-F5344CB8AC3E}">
        <p14:creationId xmlns:p14="http://schemas.microsoft.com/office/powerpoint/2010/main" val="2119594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74320"/>
            <a:ext cx="11430000" cy="483209"/>
          </a:xfrm>
          <a:prstGeom prst="rect">
            <a:avLst/>
          </a:prstGeom>
          <a:noFill/>
        </p:spPr>
        <p:txBody>
          <a:bodyPr wrap="square" lIns="45720" tIns="18288" rIns="45720" bIns="18288">
            <a:spAutoFit/>
          </a:bodyPr>
          <a:lstStyle/>
          <a:p>
            <a:r>
              <a:rPr sz="2900" b="1" dirty="0">
                <a:solidFill>
                  <a:srgbClr val="1F2D3A"/>
                </a:solidFill>
                <a:latin typeface="Arial"/>
              </a:rPr>
              <a:t>RQ</a:t>
            </a:r>
            <a:r>
              <a:rPr lang="en-US" sz="2900" b="1" dirty="0">
                <a:solidFill>
                  <a:srgbClr val="1F2D3A"/>
                </a:solidFill>
                <a:latin typeface="Arial"/>
              </a:rPr>
              <a:t>5</a:t>
            </a:r>
            <a:r>
              <a:rPr sz="2900" b="1" dirty="0">
                <a:solidFill>
                  <a:srgbClr val="1F2D3A"/>
                </a:solidFill>
                <a:latin typeface="Arial"/>
              </a:rPr>
              <a:t>: Who will meet the 2030 SDG 6 target?</a:t>
            </a:r>
          </a:p>
        </p:txBody>
      </p:sp>
      <p:sp>
        <p:nvSpPr>
          <p:cNvPr id="5" name="TextBox 4"/>
          <p:cNvSpPr txBox="1"/>
          <p:nvPr/>
        </p:nvSpPr>
        <p:spPr>
          <a:xfrm>
            <a:off x="548640" y="868680"/>
            <a:ext cx="11430000" cy="365760"/>
          </a:xfrm>
          <a:prstGeom prst="rect">
            <a:avLst/>
          </a:prstGeom>
          <a:noFill/>
        </p:spPr>
        <p:txBody>
          <a:bodyPr wrap="square" lIns="45720" tIns="18288" rIns="45720" bIns="18288">
            <a:spAutoFit/>
          </a:bodyPr>
          <a:lstStyle/>
          <a:p>
            <a:r>
              <a:rPr sz="1600">
                <a:solidFill>
                  <a:srgbClr val="4EBEB2"/>
                </a:solidFill>
                <a:latin typeface="Arial"/>
              </a:rPr>
              <a:t>2030 SDG 6 progress status, by country category</a:t>
            </a:r>
          </a:p>
        </p:txBody>
      </p:sp>
      <p:sp>
        <p:nvSpPr>
          <p:cNvPr id="6" name="Oval 5"/>
          <p:cNvSpPr/>
          <p:nvPr/>
        </p:nvSpPr>
        <p:spPr>
          <a:xfrm>
            <a:off x="502920" y="411480"/>
            <a:ext cx="164592" cy="164592"/>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4892040"/>
            <a:ext cx="10972800" cy="320040"/>
          </a:xfrm>
          <a:prstGeom prst="rect">
            <a:avLst/>
          </a:prstGeom>
          <a:noFill/>
        </p:spPr>
        <p:txBody>
          <a:bodyPr wrap="square" lIns="45720" tIns="18288" rIns="45720" bIns="18288">
            <a:spAutoFit/>
          </a:bodyPr>
          <a:lstStyle/>
          <a:p>
            <a:r>
              <a:rPr sz="1700" b="1" dirty="0">
                <a:solidFill>
                  <a:srgbClr val="4EBEB2"/>
                </a:solidFill>
                <a:latin typeface="Arial"/>
              </a:rPr>
              <a:t>Analysis + Why</a:t>
            </a:r>
          </a:p>
        </p:txBody>
      </p:sp>
      <p:pic>
        <p:nvPicPr>
          <p:cNvPr id="11" name="Picture 10" descr="image.png"/>
          <p:cNvPicPr>
            <a:picLocks noChangeAspect="1"/>
          </p:cNvPicPr>
          <p:nvPr/>
        </p:nvPicPr>
        <p:blipFill>
          <a:blip r:embed="rId2"/>
          <a:stretch>
            <a:fillRect/>
          </a:stretch>
        </p:blipFill>
        <p:spPr>
          <a:xfrm>
            <a:off x="3850110" y="1298448"/>
            <a:ext cx="4491474" cy="3886200"/>
          </a:xfrm>
          <a:prstGeom prst="rect">
            <a:avLst/>
          </a:prstGeom>
        </p:spPr>
      </p:pic>
      <p:sp>
        <p:nvSpPr>
          <p:cNvPr id="12" name="TextBox 11"/>
          <p:cNvSpPr txBox="1"/>
          <p:nvPr/>
        </p:nvSpPr>
        <p:spPr>
          <a:xfrm>
            <a:off x="640080" y="5321808"/>
            <a:ext cx="10058400" cy="1058238"/>
          </a:xfrm>
          <a:prstGeom prst="rect">
            <a:avLst/>
          </a:prstGeom>
          <a:noFill/>
        </p:spPr>
        <p:txBody>
          <a:bodyPr wrap="square" lIns="0" tIns="0" rIns="0" bIns="0">
            <a:spAutoFit/>
          </a:bodyPr>
          <a:lstStyle/>
          <a:p>
            <a:pPr>
              <a:lnSpc>
                <a:spcPct val="95000"/>
              </a:lnSpc>
              <a:spcAft>
                <a:spcPts val="100"/>
              </a:spcAft>
            </a:pPr>
            <a:r>
              <a:rPr sz="1000" b="0" dirty="0">
                <a:solidFill>
                  <a:srgbClr val="1F2D3A"/>
                </a:solidFill>
                <a:latin typeface="Arial"/>
              </a:rPr>
              <a:t>•  4 countries are on track; 9 are moderate; 17 countries (57%) will miss the 2030 target.</a:t>
            </a:r>
          </a:p>
          <a:p>
            <a:pPr>
              <a:lnSpc>
                <a:spcPct val="95000"/>
              </a:lnSpc>
              <a:spcAft>
                <a:spcPts val="100"/>
              </a:spcAft>
            </a:pPr>
            <a:r>
              <a:rPr sz="1000" b="0" dirty="0">
                <a:solidFill>
                  <a:srgbClr val="1F2D3A"/>
                </a:solidFill>
                <a:latin typeface="Arial"/>
              </a:rPr>
              <a:t>•  Why</a:t>
            </a:r>
            <a:r>
              <a:rPr lang="en-US" sz="1000" dirty="0">
                <a:solidFill>
                  <a:srgbClr val="1F2D3A"/>
                </a:solidFill>
                <a:latin typeface="Arial"/>
              </a:rPr>
              <a:t> 57 % of the countries will miss the 2030 target:</a:t>
            </a:r>
          </a:p>
          <a:p>
            <a:pPr marL="628650" lvl="1" indent="-171450" algn="just">
              <a:lnSpc>
                <a:spcPct val="95000"/>
              </a:lnSpc>
              <a:spcAft>
                <a:spcPts val="100"/>
              </a:spcAft>
              <a:buFont typeface="Arial" panose="020B0604020202020204" pitchFamily="34" charset="0"/>
              <a:buChar char="•"/>
            </a:pPr>
            <a:r>
              <a:rPr lang="en-US" sz="1200" b="0" dirty="0">
                <a:solidFill>
                  <a:srgbClr val="1F2D3A"/>
                </a:solidFill>
                <a:latin typeface="Arial"/>
              </a:rPr>
              <a:t>The commitment – execution gap</a:t>
            </a:r>
          </a:p>
          <a:p>
            <a:pPr marL="628650" lvl="1" indent="-171450" algn="just">
              <a:lnSpc>
                <a:spcPct val="95000"/>
              </a:lnSpc>
              <a:spcAft>
                <a:spcPts val="100"/>
              </a:spcAft>
              <a:buFont typeface="Arial" panose="020B0604020202020204" pitchFamily="34" charset="0"/>
              <a:buChar char="•"/>
            </a:pPr>
            <a:r>
              <a:rPr lang="en-US" sz="1200" dirty="0">
                <a:solidFill>
                  <a:srgbClr val="1F2D3A"/>
                </a:solidFill>
                <a:latin typeface="Arial"/>
              </a:rPr>
              <a:t>The poverty trap dynamic</a:t>
            </a:r>
          </a:p>
          <a:p>
            <a:pPr marL="628650" lvl="1" indent="-171450" algn="just">
              <a:lnSpc>
                <a:spcPct val="95000"/>
              </a:lnSpc>
              <a:spcAft>
                <a:spcPts val="100"/>
              </a:spcAft>
              <a:buFont typeface="Arial" panose="020B0604020202020204" pitchFamily="34" charset="0"/>
              <a:buChar char="•"/>
            </a:pPr>
            <a:r>
              <a:rPr lang="en-US" sz="1200" b="0" dirty="0">
                <a:solidFill>
                  <a:srgbClr val="1F2D3A"/>
                </a:solidFill>
                <a:latin typeface="Arial"/>
              </a:rPr>
              <a:t>Donor unpredictability</a:t>
            </a:r>
          </a:p>
          <a:p>
            <a:pPr marL="628650" lvl="1" indent="-171450" algn="just">
              <a:lnSpc>
                <a:spcPct val="95000"/>
              </a:lnSpc>
              <a:spcAft>
                <a:spcPts val="100"/>
              </a:spcAft>
              <a:buFont typeface="Arial" panose="020B0604020202020204" pitchFamily="34" charset="0"/>
              <a:buChar char="•"/>
            </a:pPr>
            <a:r>
              <a:rPr lang="en-US" sz="1200" dirty="0">
                <a:solidFill>
                  <a:srgbClr val="1F2D3A"/>
                </a:solidFill>
                <a:latin typeface="Arial"/>
              </a:rPr>
              <a:t>Implementation capacity constrains</a:t>
            </a:r>
            <a:endParaRPr sz="1200" b="0" dirty="0">
              <a:solidFill>
                <a:srgbClr val="1F2D3A"/>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731520"/>
          </a:xfrm>
          <a:prstGeom prst="rect">
            <a:avLst/>
          </a:prstGeom>
          <a:noFill/>
        </p:spPr>
        <p:txBody>
          <a:bodyPr wrap="square" lIns="45720" tIns="18288" rIns="45720" bIns="18288">
            <a:spAutoFit/>
          </a:bodyPr>
          <a:lstStyle/>
          <a:p>
            <a:pPr algn="l"/>
            <a:r>
              <a:rPr sz="3000" b="1">
                <a:solidFill>
                  <a:srgbClr val="FFFFFF"/>
                </a:solidFill>
                <a:latin typeface="Arial"/>
              </a:rPr>
              <a:t>Key Takeaways</a:t>
            </a:r>
          </a:p>
        </p:txBody>
      </p:sp>
      <p:sp>
        <p:nvSpPr>
          <p:cNvPr id="4" name="Rectangle 3"/>
          <p:cNvSpPr/>
          <p:nvPr/>
        </p:nvSpPr>
        <p:spPr>
          <a:xfrm>
            <a:off x="640080" y="1188720"/>
            <a:ext cx="914400" cy="45720"/>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Rounded Rectangle 4"/>
          <p:cNvSpPr/>
          <p:nvPr/>
        </p:nvSpPr>
        <p:spPr>
          <a:xfrm>
            <a:off x="640080" y="1554480"/>
            <a:ext cx="5394960" cy="2103120"/>
          </a:xfrm>
          <a:prstGeom prst="round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4937760" cy="548640"/>
          </a:xfrm>
          <a:prstGeom prst="rect">
            <a:avLst/>
          </a:prstGeom>
          <a:noFill/>
        </p:spPr>
        <p:txBody>
          <a:bodyPr wrap="square" lIns="45720" tIns="18288" rIns="45720" bIns="18288">
            <a:spAutoFit/>
          </a:bodyPr>
          <a:lstStyle/>
          <a:p>
            <a:r>
              <a:rPr sz="1800" b="1">
                <a:solidFill>
                  <a:srgbClr val="FFFFFF"/>
                </a:solidFill>
                <a:latin typeface="Arial"/>
              </a:rPr>
              <a:t>Crisis zones</a:t>
            </a:r>
          </a:p>
        </p:txBody>
      </p:sp>
      <p:sp>
        <p:nvSpPr>
          <p:cNvPr id="7" name="TextBox 6"/>
          <p:cNvSpPr txBox="1"/>
          <p:nvPr/>
        </p:nvSpPr>
        <p:spPr>
          <a:xfrm>
            <a:off x="914400" y="2423160"/>
            <a:ext cx="4937760" cy="1188720"/>
          </a:xfrm>
          <a:prstGeom prst="rect">
            <a:avLst/>
          </a:prstGeom>
          <a:noFill/>
        </p:spPr>
        <p:txBody>
          <a:bodyPr wrap="square" lIns="45720" tIns="18288" rIns="45720" bIns="18288">
            <a:spAutoFit/>
          </a:bodyPr>
          <a:lstStyle/>
          <a:p>
            <a:r>
              <a:rPr sz="1350" b="0">
                <a:solidFill>
                  <a:srgbClr val="DAF5F2"/>
                </a:solidFill>
                <a:latin typeface="Arial"/>
              </a:rPr>
              <a:t>Cameroon, Ethiopia, Chad, Nigeria and Sierra Leone remain below urgent water-access thresholds.</a:t>
            </a:r>
          </a:p>
        </p:txBody>
      </p:sp>
      <p:sp>
        <p:nvSpPr>
          <p:cNvPr id="8" name="Rounded Rectangle 7"/>
          <p:cNvSpPr/>
          <p:nvPr/>
        </p:nvSpPr>
        <p:spPr>
          <a:xfrm>
            <a:off x="6217920" y="1554480"/>
            <a:ext cx="5394960" cy="2103120"/>
          </a:xfrm>
          <a:prstGeom prst="round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783080"/>
            <a:ext cx="4937760" cy="548640"/>
          </a:xfrm>
          <a:prstGeom prst="rect">
            <a:avLst/>
          </a:prstGeom>
          <a:noFill/>
        </p:spPr>
        <p:txBody>
          <a:bodyPr wrap="square" lIns="45720" tIns="18288" rIns="45720" bIns="18288">
            <a:spAutoFit/>
          </a:bodyPr>
          <a:lstStyle/>
          <a:p>
            <a:r>
              <a:rPr sz="1800" b="1">
                <a:solidFill>
                  <a:srgbClr val="FFFFFF"/>
                </a:solidFill>
                <a:latin typeface="Arial"/>
              </a:rPr>
              <a:t>WASH acts as a system</a:t>
            </a:r>
          </a:p>
        </p:txBody>
      </p:sp>
      <p:sp>
        <p:nvSpPr>
          <p:cNvPr id="10" name="TextBox 9"/>
          <p:cNvSpPr txBox="1"/>
          <p:nvPr/>
        </p:nvSpPr>
        <p:spPr>
          <a:xfrm>
            <a:off x="6492240" y="2423160"/>
            <a:ext cx="4937760" cy="1188720"/>
          </a:xfrm>
          <a:prstGeom prst="rect">
            <a:avLst/>
          </a:prstGeom>
          <a:noFill/>
        </p:spPr>
        <p:txBody>
          <a:bodyPr wrap="square" lIns="45720" tIns="18288" rIns="45720" bIns="18288">
            <a:spAutoFit/>
          </a:bodyPr>
          <a:lstStyle/>
          <a:p>
            <a:r>
              <a:rPr sz="1500">
                <a:solidFill>
                  <a:srgbClr val="DAF5F2"/>
                </a:solidFill>
                <a:latin typeface="Arial"/>
              </a:rPr>
              <a:t>National WASH profiles show incomplete systems, so isolated interventions are not enough.</a:t>
            </a:r>
          </a:p>
        </p:txBody>
      </p:sp>
      <p:sp>
        <p:nvSpPr>
          <p:cNvPr id="11" name="Rounded Rectangle 10"/>
          <p:cNvSpPr/>
          <p:nvPr/>
        </p:nvSpPr>
        <p:spPr>
          <a:xfrm>
            <a:off x="640080" y="3931920"/>
            <a:ext cx="5394960" cy="2103120"/>
          </a:xfrm>
          <a:prstGeom prst="round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160520"/>
            <a:ext cx="4937760" cy="548640"/>
          </a:xfrm>
          <a:prstGeom prst="rect">
            <a:avLst/>
          </a:prstGeom>
          <a:noFill/>
        </p:spPr>
        <p:txBody>
          <a:bodyPr wrap="square" lIns="45720" tIns="18288" rIns="45720" bIns="18288">
            <a:spAutoFit/>
          </a:bodyPr>
          <a:lstStyle/>
          <a:p>
            <a:r>
              <a:rPr sz="1800" b="1">
                <a:solidFill>
                  <a:srgbClr val="FFFFFF"/>
                </a:solidFill>
                <a:latin typeface="Arial"/>
              </a:rPr>
              <a:t>Progress has plateaued</a:t>
            </a:r>
          </a:p>
        </p:txBody>
      </p:sp>
      <p:sp>
        <p:nvSpPr>
          <p:cNvPr id="13" name="TextBox 12"/>
          <p:cNvSpPr txBox="1"/>
          <p:nvPr/>
        </p:nvSpPr>
        <p:spPr>
          <a:xfrm>
            <a:off x="914400" y="4800600"/>
            <a:ext cx="4937760" cy="1188720"/>
          </a:xfrm>
          <a:prstGeom prst="rect">
            <a:avLst/>
          </a:prstGeom>
          <a:noFill/>
        </p:spPr>
        <p:txBody>
          <a:bodyPr wrap="square" lIns="45720" tIns="18288" rIns="45720" bIns="18288">
            <a:spAutoFit/>
          </a:bodyPr>
          <a:lstStyle/>
          <a:p>
            <a:r>
              <a:rPr sz="1350" b="0">
                <a:solidFill>
                  <a:srgbClr val="DAF5F2"/>
                </a:solidFill>
                <a:latin typeface="Arial"/>
              </a:rPr>
              <a:t>Sanitation gains slowed after 2012; current pace projects only ~68% access by 2030.</a:t>
            </a:r>
          </a:p>
        </p:txBody>
      </p:sp>
      <p:sp>
        <p:nvSpPr>
          <p:cNvPr id="14" name="Rounded Rectangle 13"/>
          <p:cNvSpPr/>
          <p:nvPr/>
        </p:nvSpPr>
        <p:spPr>
          <a:xfrm>
            <a:off x="6217920" y="3931920"/>
            <a:ext cx="5394960" cy="2103120"/>
          </a:xfrm>
          <a:prstGeom prst="round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92240" y="4160520"/>
            <a:ext cx="4937760" cy="548640"/>
          </a:xfrm>
          <a:prstGeom prst="rect">
            <a:avLst/>
          </a:prstGeom>
          <a:noFill/>
        </p:spPr>
        <p:txBody>
          <a:bodyPr wrap="square" lIns="45720" tIns="18288" rIns="45720" bIns="18288">
            <a:spAutoFit/>
          </a:bodyPr>
          <a:lstStyle/>
          <a:p>
            <a:r>
              <a:rPr sz="1800" b="1">
                <a:solidFill>
                  <a:srgbClr val="FFFFFF"/>
                </a:solidFill>
                <a:latin typeface="Arial"/>
              </a:rPr>
              <a:t>SDG 6 is at risk</a:t>
            </a:r>
          </a:p>
        </p:txBody>
      </p:sp>
      <p:sp>
        <p:nvSpPr>
          <p:cNvPr id="16" name="TextBox 15"/>
          <p:cNvSpPr txBox="1"/>
          <p:nvPr/>
        </p:nvSpPr>
        <p:spPr>
          <a:xfrm>
            <a:off x="6492240" y="4800600"/>
            <a:ext cx="4937760" cy="1188720"/>
          </a:xfrm>
          <a:prstGeom prst="rect">
            <a:avLst/>
          </a:prstGeom>
          <a:noFill/>
        </p:spPr>
        <p:txBody>
          <a:bodyPr wrap="square" lIns="45720" tIns="18288" rIns="45720" bIns="18288">
            <a:spAutoFit/>
          </a:bodyPr>
          <a:lstStyle/>
          <a:p>
            <a:r>
              <a:rPr sz="1350" b="0">
                <a:solidFill>
                  <a:srgbClr val="DAF5F2"/>
                </a:solidFill>
                <a:latin typeface="Arial"/>
              </a:rPr>
              <a:t>Only 13% of countries are on track for 2030 without accelerated investment.</a:t>
            </a:r>
          </a:p>
        </p:txBody>
      </p:sp>
      <p:sp>
        <p:nvSpPr>
          <p:cNvPr id="17" name="TextBox 16"/>
          <p:cNvSpPr txBox="1"/>
          <p:nvPr/>
        </p:nvSpPr>
        <p:spPr>
          <a:xfrm>
            <a:off x="640080" y="6537960"/>
            <a:ext cx="10972800" cy="274320"/>
          </a:xfrm>
          <a:prstGeom prst="rect">
            <a:avLst/>
          </a:prstGeom>
          <a:noFill/>
        </p:spPr>
        <p:txBody>
          <a:bodyPr wrap="square" lIns="45720" tIns="18288" rIns="45720" bIns="18288">
            <a:spAutoFit/>
          </a:bodyPr>
          <a:lstStyle/>
          <a:p>
            <a:pPr algn="l"/>
            <a:r>
              <a:rPr sz="800" b="0">
                <a:solidFill>
                  <a:srgbClr val="DAF5F2"/>
                </a:solidFill>
                <a:latin typeface="Arial"/>
              </a:rPr>
              <a:t>Source: WHO/UNICEF JMP, 2024.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10972800" cy="498598"/>
          </a:xfrm>
          <a:prstGeom prst="rect">
            <a:avLst/>
          </a:prstGeom>
          <a:noFill/>
        </p:spPr>
        <p:txBody>
          <a:bodyPr wrap="square" lIns="45720" tIns="18288" rIns="45720" bIns="18288">
            <a:spAutoFit/>
          </a:bodyPr>
          <a:lstStyle/>
          <a:p>
            <a:pPr algn="l"/>
            <a:r>
              <a:rPr lang="en-US" sz="3000" b="1" dirty="0">
                <a:solidFill>
                  <a:srgbClr val="FFFFFF"/>
                </a:solidFill>
                <a:latin typeface="Arial"/>
              </a:rPr>
              <a:t>Recommendations</a:t>
            </a:r>
            <a:endParaRPr sz="3000" b="1" dirty="0">
              <a:solidFill>
                <a:srgbClr val="FFFFFF"/>
              </a:solidFill>
              <a:latin typeface="Arial"/>
            </a:endParaRPr>
          </a:p>
        </p:txBody>
      </p:sp>
      <p:sp>
        <p:nvSpPr>
          <p:cNvPr id="4" name="Rectangle 3"/>
          <p:cNvSpPr/>
          <p:nvPr/>
        </p:nvSpPr>
        <p:spPr>
          <a:xfrm>
            <a:off x="640080" y="1188720"/>
            <a:ext cx="914400" cy="45720"/>
          </a:xfrm>
          <a:prstGeom prst="rect">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endParaRPr/>
          </a:p>
        </p:txBody>
      </p:sp>
      <p:sp>
        <p:nvSpPr>
          <p:cNvPr id="5" name="Rounded Rectangle 4"/>
          <p:cNvSpPr/>
          <p:nvPr/>
        </p:nvSpPr>
        <p:spPr>
          <a:xfrm>
            <a:off x="640080" y="1554480"/>
            <a:ext cx="5394960" cy="2103120"/>
          </a:xfrm>
          <a:prstGeom prst="round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4937760" cy="548640"/>
          </a:xfrm>
          <a:prstGeom prst="rect">
            <a:avLst/>
          </a:prstGeom>
          <a:noFill/>
        </p:spPr>
        <p:txBody>
          <a:bodyPr wrap="square" lIns="45720" tIns="18288" rIns="45720" bIns="18288">
            <a:spAutoFit/>
          </a:bodyPr>
          <a:lstStyle/>
          <a:p>
            <a:r>
              <a:rPr sz="1800" b="1" dirty="0">
                <a:solidFill>
                  <a:srgbClr val="FFFFFF"/>
                </a:solidFill>
                <a:latin typeface="Arial"/>
              </a:rPr>
              <a:t>Crisis zones</a:t>
            </a:r>
          </a:p>
        </p:txBody>
      </p:sp>
      <p:sp>
        <p:nvSpPr>
          <p:cNvPr id="7" name="TextBox 6"/>
          <p:cNvSpPr txBox="1"/>
          <p:nvPr/>
        </p:nvSpPr>
        <p:spPr>
          <a:xfrm>
            <a:off x="762000" y="2143116"/>
            <a:ext cx="4937760" cy="1537344"/>
          </a:xfrm>
          <a:prstGeom prst="rect">
            <a:avLst/>
          </a:prstGeom>
          <a:noFill/>
        </p:spPr>
        <p:txBody>
          <a:bodyPr wrap="square" lIns="45720" tIns="18288" rIns="45720" bIns="18288">
            <a:spAutoFit/>
          </a:bodyPr>
          <a:lstStyle/>
          <a:p>
            <a:pPr algn="l"/>
            <a:r>
              <a:rPr lang="en-US" sz="1400" b="0" i="0" cap="all" dirty="0">
                <a:solidFill>
                  <a:schemeClr val="bg1"/>
                </a:solidFill>
                <a:effectLst/>
                <a:latin typeface="ui-sans-serif"/>
              </a:rPr>
              <a:t>Priority 1</a:t>
            </a:r>
          </a:p>
          <a:p>
            <a:pPr algn="l"/>
            <a:r>
              <a:rPr lang="en-US" sz="1400" b="1" i="0" dirty="0">
                <a:solidFill>
                  <a:schemeClr val="bg1"/>
                </a:solidFill>
                <a:effectLst/>
                <a:latin typeface="ui-sans-serif"/>
              </a:rPr>
              <a:t>Concentrate investment on the 12 sub-60% countries</a:t>
            </a:r>
          </a:p>
          <a:p>
            <a:pPr algn="l"/>
            <a:r>
              <a:rPr lang="en-US" sz="1400" b="0" i="0" dirty="0">
                <a:solidFill>
                  <a:schemeClr val="bg1"/>
                </a:solidFill>
                <a:effectLst/>
                <a:latin typeface="ui-sans-serif"/>
              </a:rPr>
              <a:t>12 of 51 countries — including </a:t>
            </a:r>
            <a:r>
              <a:rPr lang="en-US" sz="1400" b="1" i="0" dirty="0">
                <a:solidFill>
                  <a:schemeClr val="bg1"/>
                </a:solidFill>
                <a:effectLst/>
                <a:latin typeface="ui-sans-serif"/>
              </a:rPr>
              <a:t>Cameroon (23.7%), Ethiopia, Chad and Nigeria</a:t>
            </a:r>
            <a:r>
              <a:rPr lang="en-US" sz="1400" b="0" i="0" dirty="0">
                <a:solidFill>
                  <a:schemeClr val="bg1"/>
                </a:solidFill>
                <a:effectLst/>
                <a:latin typeface="ui-sans-serif"/>
              </a:rPr>
              <a:t> — sit below 60% basic water coverage. Ring-fence donor and national budgets for these states; a uniform per-country allocation will not close a 69-pp gap</a:t>
            </a:r>
            <a:r>
              <a:rPr lang="en-US" sz="1400" b="0" i="0" dirty="0">
                <a:effectLst/>
                <a:latin typeface="ui-sans-serif"/>
              </a:rPr>
              <a:t>.</a:t>
            </a:r>
          </a:p>
          <a:p>
            <a:endParaRPr sz="1350" b="0" dirty="0">
              <a:solidFill>
                <a:srgbClr val="DAF5F2"/>
              </a:solidFill>
              <a:latin typeface="Arial"/>
            </a:endParaRPr>
          </a:p>
        </p:txBody>
      </p:sp>
      <p:sp>
        <p:nvSpPr>
          <p:cNvPr id="8" name="Rounded Rectangle 7"/>
          <p:cNvSpPr/>
          <p:nvPr/>
        </p:nvSpPr>
        <p:spPr>
          <a:xfrm>
            <a:off x="6156960" y="1733038"/>
            <a:ext cx="5394960" cy="2103120"/>
          </a:xfrm>
          <a:prstGeom prst="round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39840" y="1875103"/>
            <a:ext cx="4937760" cy="2237536"/>
          </a:xfrm>
          <a:prstGeom prst="rect">
            <a:avLst/>
          </a:prstGeom>
          <a:noFill/>
        </p:spPr>
        <p:txBody>
          <a:bodyPr wrap="square" lIns="45720" tIns="18288" rIns="45720" bIns="18288">
            <a:spAutoFit/>
          </a:bodyPr>
          <a:lstStyle/>
          <a:p>
            <a:pPr algn="l"/>
            <a:r>
              <a:rPr lang="en-US" sz="1600" b="0" i="0" cap="all" dirty="0">
                <a:solidFill>
                  <a:schemeClr val="bg1"/>
                </a:solidFill>
                <a:effectLst/>
                <a:latin typeface="ui-sans-serif"/>
              </a:rPr>
              <a:t>Priority 2</a:t>
            </a:r>
          </a:p>
          <a:p>
            <a:pPr algn="l"/>
            <a:r>
              <a:rPr lang="en-US" sz="1600" b="1" i="0" dirty="0">
                <a:solidFill>
                  <a:schemeClr val="bg1"/>
                </a:solidFill>
                <a:effectLst/>
                <a:latin typeface="ui-sans-serif"/>
              </a:rPr>
              <a:t>Break the post-2015 plateau with new delivery models</a:t>
            </a:r>
          </a:p>
          <a:p>
            <a:pPr algn="l"/>
            <a:r>
              <a:rPr lang="en-US" sz="1600" b="0" i="0" dirty="0">
                <a:solidFill>
                  <a:schemeClr val="bg1"/>
                </a:solidFill>
                <a:effectLst/>
                <a:latin typeface="ui-sans-serif"/>
              </a:rPr>
              <a:t>Sanitation gains collapsed from </a:t>
            </a:r>
            <a:r>
              <a:rPr lang="en-US" sz="1600" b="1" i="0" dirty="0">
                <a:solidFill>
                  <a:schemeClr val="bg1"/>
                </a:solidFill>
                <a:effectLst/>
                <a:latin typeface="ui-sans-serif"/>
              </a:rPr>
              <a:t>+32.9 pp (2000–2005)</a:t>
            </a:r>
            <a:r>
              <a:rPr lang="en-US" sz="1600" b="0" i="0" dirty="0">
                <a:solidFill>
                  <a:schemeClr val="bg1"/>
                </a:solidFill>
                <a:effectLst/>
                <a:latin typeface="ui-sans-serif"/>
              </a:rPr>
              <a:t> to </a:t>
            </a:r>
            <a:r>
              <a:rPr lang="en-US" sz="1600" b="1" i="0" dirty="0">
                <a:solidFill>
                  <a:schemeClr val="bg1"/>
                </a:solidFill>
                <a:effectLst/>
                <a:latin typeface="ui-sans-serif"/>
              </a:rPr>
              <a:t>+1.3 pp (2015–2023)</a:t>
            </a:r>
            <a:r>
              <a:rPr lang="en-US" sz="1600" b="0" i="0" dirty="0">
                <a:solidFill>
                  <a:schemeClr val="bg1"/>
                </a:solidFill>
                <a:effectLst/>
                <a:latin typeface="ui-sans-serif"/>
              </a:rPr>
              <a:t>. Traditional construction-led approaches have hit diminishing returns; scale community-managed O&amp;M, results-based financing, and school-cluster contracts to reach the harder-to-serve schools</a:t>
            </a:r>
          </a:p>
          <a:p>
            <a:endParaRPr lang="en-US" sz="1500" dirty="0">
              <a:solidFill>
                <a:srgbClr val="DAF5F2"/>
              </a:solidFill>
              <a:latin typeface="Arial"/>
            </a:endParaRPr>
          </a:p>
        </p:txBody>
      </p:sp>
      <p:sp>
        <p:nvSpPr>
          <p:cNvPr id="11" name="Rounded Rectangle 10"/>
          <p:cNvSpPr/>
          <p:nvPr/>
        </p:nvSpPr>
        <p:spPr>
          <a:xfrm>
            <a:off x="4263390" y="4347722"/>
            <a:ext cx="5394960" cy="2103120"/>
          </a:xfrm>
          <a:prstGeom prst="roundRect">
            <a:avLst/>
          </a:prstGeom>
          <a:solidFill>
            <a:srgbClr val="212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b="0" i="0" cap="all">
                <a:effectLst/>
                <a:latin typeface="ui-sans-serif"/>
              </a:rPr>
              <a:t>Accountability</a:t>
            </a:r>
          </a:p>
          <a:p>
            <a:pPr algn="l"/>
            <a:r>
              <a:rPr lang="en-US" b="1" i="0">
                <a:effectLst/>
                <a:latin typeface="ui-sans-serif"/>
              </a:rPr>
              <a:t>Publish a country WASH scorecard every year</a:t>
            </a:r>
          </a:p>
          <a:p>
            <a:pPr algn="l"/>
            <a:r>
              <a:rPr lang="en-US" b="0" i="0">
                <a:effectLst/>
                <a:latin typeface="ui-sans-serif"/>
              </a:rPr>
              <a:t>17 of 30 analysed countries (57%) are off-track for the 90% SDG target by 2030 — and </a:t>
            </a:r>
            <a:r>
              <a:rPr lang="en-US" b="1" i="0">
                <a:effectLst/>
                <a:latin typeface="ui-sans-serif"/>
              </a:rPr>
              <a:t>4 have negative trends</a:t>
            </a:r>
            <a:r>
              <a:rPr lang="en-US" b="0" i="0">
                <a:effectLst/>
                <a:latin typeface="ui-sans-serif"/>
              </a:rPr>
              <a:t> (Cameroon, Uganda, Liberia, Algeria). An annual public scorecard tied to JMP data would create the political pressure currently missing</a:t>
            </a:r>
          </a:p>
        </p:txBody>
      </p:sp>
      <p:sp>
        <p:nvSpPr>
          <p:cNvPr id="17" name="TextBox 16"/>
          <p:cNvSpPr txBox="1"/>
          <p:nvPr/>
        </p:nvSpPr>
        <p:spPr>
          <a:xfrm>
            <a:off x="640080" y="6537960"/>
            <a:ext cx="10972800" cy="274320"/>
          </a:xfrm>
          <a:prstGeom prst="rect">
            <a:avLst/>
          </a:prstGeom>
          <a:noFill/>
        </p:spPr>
        <p:txBody>
          <a:bodyPr wrap="square" lIns="45720" tIns="18288" rIns="45720" bIns="18288">
            <a:spAutoFit/>
          </a:bodyPr>
          <a:lstStyle/>
          <a:p>
            <a:pPr algn="l"/>
            <a:r>
              <a:rPr sz="800" b="0">
                <a:solidFill>
                  <a:srgbClr val="DAF5F2"/>
                </a:solidFill>
                <a:latin typeface="Arial"/>
              </a:rPr>
              <a:t>Source: WHO/UNICEF JMP, 2024.</a:t>
            </a:r>
          </a:p>
        </p:txBody>
      </p:sp>
    </p:spTree>
    <p:extLst>
      <p:ext uri="{BB962C8B-B14F-4D97-AF65-F5344CB8AC3E}">
        <p14:creationId xmlns:p14="http://schemas.microsoft.com/office/powerpoint/2010/main" val="3428638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20040"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74320"/>
            <a:ext cx="11430000" cy="640080"/>
          </a:xfrm>
          <a:prstGeom prst="rect">
            <a:avLst/>
          </a:prstGeom>
          <a:noFill/>
        </p:spPr>
        <p:txBody>
          <a:bodyPr wrap="square" lIns="45720" tIns="18288" rIns="45720" bIns="18288">
            <a:spAutoFit/>
          </a:bodyPr>
          <a:lstStyle/>
          <a:p>
            <a:pPr algn="l"/>
            <a:r>
              <a:rPr sz="2600" b="1">
                <a:solidFill>
                  <a:srgbClr val="1E2761"/>
                </a:solidFill>
                <a:latin typeface="Georgia"/>
              </a:rPr>
              <a:t>References</a:t>
            </a:r>
          </a:p>
        </p:txBody>
      </p:sp>
      <p:sp>
        <p:nvSpPr>
          <p:cNvPr id="5" name="Oval 4"/>
          <p:cNvSpPr/>
          <p:nvPr/>
        </p:nvSpPr>
        <p:spPr>
          <a:xfrm>
            <a:off x="502920" y="411480"/>
            <a:ext cx="164592" cy="164592"/>
          </a:xfrm>
          <a:prstGeom prst="ellipse">
            <a:avLst/>
          </a:prstGeom>
          <a:solidFill>
            <a:srgbClr val="F9616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371600"/>
            <a:ext cx="10972800" cy="5029200"/>
          </a:xfrm>
          <a:prstGeom prst="rect">
            <a:avLst/>
          </a:prstGeom>
          <a:noFill/>
        </p:spPr>
        <p:txBody>
          <a:bodyPr wrap="square">
            <a:spAutoFit/>
          </a:bodyPr>
          <a:lstStyle/>
          <a:p>
            <a:pPr algn="l">
              <a:spcAft>
                <a:spcPts val="1000"/>
              </a:spcAft>
            </a:pPr>
            <a:r>
              <a:rPr sz="1200">
                <a:solidFill>
                  <a:srgbClr val="21295C"/>
                </a:solidFill>
                <a:latin typeface="Calibri"/>
              </a:rPr>
              <a:t>[1]  WHO/UNICEF Joint Monitoring Programme for Water Supply, Sanitation and Hygiene (JMP). (2024). Progress on drinking water, sanitation and hygiene in schools 2000–2023. Geneva: WHO &amp; UNICEF. https://washdata.org</a:t>
            </a:r>
          </a:p>
          <a:p>
            <a:pPr algn="l">
              <a:spcAft>
                <a:spcPts val="1000"/>
              </a:spcAft>
            </a:pPr>
            <a:r>
              <a:rPr sz="1200">
                <a:solidFill>
                  <a:srgbClr val="21295C"/>
                </a:solidFill>
                <a:latin typeface="Calibri"/>
              </a:rPr>
              <a:t>[2]  United Nations. (2015). Transforming our world: The 2030 Agenda for Sustainable Development (SDG 6: Clean Water and Sanitation). New York: UN General Assembly.</a:t>
            </a:r>
          </a:p>
          <a:p>
            <a:pPr algn="l">
              <a:spcAft>
                <a:spcPts val="1000"/>
              </a:spcAft>
            </a:pPr>
            <a:r>
              <a:rPr sz="1200">
                <a:solidFill>
                  <a:srgbClr val="21295C"/>
                </a:solidFill>
                <a:latin typeface="Calibri"/>
              </a:rPr>
              <a:t>[3]  UNICEF. (2023). Water, Sanitation and Hygiene (WASH) in Schools. New York: UNICEF.</a:t>
            </a:r>
          </a:p>
          <a:p>
            <a:pPr algn="l">
              <a:spcAft>
                <a:spcPts val="1000"/>
              </a:spcAft>
            </a:pPr>
            <a:r>
              <a:rPr sz="1200">
                <a:solidFill>
                  <a:srgbClr val="21295C"/>
                </a:solidFill>
                <a:latin typeface="Calibri"/>
              </a:rPr>
              <a:t>[4]  UNESCO Institute for Statistics. (2023). Education and WASH indicators database. Montreal: UIS.</a:t>
            </a:r>
          </a:p>
          <a:p>
            <a:pPr algn="l">
              <a:spcAft>
                <a:spcPts val="1000"/>
              </a:spcAft>
            </a:pPr>
            <a:r>
              <a:rPr sz="1200">
                <a:solidFill>
                  <a:srgbClr val="21295C"/>
                </a:solidFill>
                <a:latin typeface="Calibri"/>
              </a:rPr>
              <a:t>[5]  WHO. (2022). State of the world's drinking water: An urgent call to action to accelerate progress on ensuring safe drinking water for all. Geneva: World Health Organization.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1906</TotalTime>
  <Words>1298</Words>
  <Application>Microsoft Office PowerPoint</Application>
  <PresentationFormat>Widescreen</PresentationFormat>
  <Paragraphs>110</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Consolas</vt:lpstr>
      <vt:lpstr>Georgia</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Christine K</dc:creator>
  <cp:keywords/>
  <dc:description>generated using python-pptx</dc:description>
  <cp:lastModifiedBy>Christine K</cp:lastModifiedBy>
  <cp:revision>12</cp:revision>
  <dcterms:created xsi:type="dcterms:W3CDTF">2013-01-27T09:14:16Z</dcterms:created>
  <dcterms:modified xsi:type="dcterms:W3CDTF">2026-05-03T15:46:12Z</dcterms:modified>
  <cp:category/>
</cp:coreProperties>
</file>